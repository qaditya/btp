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Bifacial PV Optimizer — 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2463"/>
                </a:solidFill>
                <a:latin typeface="Inter"/>
              </a:rPr>
              <a:t>Platform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Location-based solar data via
  NASA POWER API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Configurable sweep parameters:
  Height, Tilt, Step sizes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Interactive city search with
  geocoding support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Date-specific hourly analysis
  with IST timezone handling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Dark-themed professional UI
  with real-time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Input Configuration — Albedo &amp; Surface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2_albe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2463"/>
                </a:solidFill>
                <a:latin typeface="Inter"/>
              </a:rPr>
              <a:t>Surface Albedo Presets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5 preset surfaces:
  Grass (0.20), Concrete (0.30),
  Snow (0.82), Asphalt (0.12),
  Custom (user-defined)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Custom albedo range: 0–1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"Fetch Irradiance" retrieves
  hourly GHI from NASA POWER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"Run Global Analysis" triggers
  full parametric sweep engine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Array azimuth configurable
  (default 180° for South-facing)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NASA POWER Telemetry — Solar Irradiance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3_na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2463"/>
                </a:solidFill>
                <a:latin typeface="Inter"/>
              </a:rPr>
              <a:t>Data Retrieved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Source: NASA POWER API
  (Hourly, 0.5° resolution)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Parameters: ALLSKY_SFC_SW_DWN
  (Global Horizontal Irradiance)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Erbs clearness-index model
  decomposes GHI → DNI + DHI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Total GHI: ~5.43 kWh/m²/day
  for Greater Noida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Hourly temperature data
  for NOCT thermal derating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Optimization Engine — Results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4F8A"/>
                </a:solidFill>
                <a:latin typeface="Inter"/>
              </a:rPr>
              <a:t>↑ Optimal configuration identified: Height 450cm, Tilt 30° → Max Energy; Height 450cm, Tilt 10° → Max Rear 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Energy Yield Comparison — Top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5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4F8A"/>
                </a:solidFill>
                <a:latin typeface="Inter"/>
              </a:rPr>
              <a:t>↑ Bar chart comparing total energy (kWh) across top-ranked configurations with optimal highlighted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Electrical Characteristics — I-V &amp; P-V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6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3840480"/>
          </a:xfrm>
          <a:prstGeom prst="rect">
            <a:avLst/>
          </a:prstGeom>
        </p:spPr>
      </p:pic>
      <p:pic>
        <p:nvPicPr>
          <p:cNvPr id="7" name="Picture 6" descr="ss7_p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7607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12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I-V curves show current vs. voltage for top configurations with both front and rear irradiance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P-V curves identify Maximum Power Point (MPP) for each configuration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Higher effective irradiance → higher Isc and peak power; Voc remains relatively stable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Scenario Variation — Individual Parameter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8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Vary Albedo: Rear gain ranges from &lt;5% (asphalt) to &gt;24% (aluminum) — most influential parameter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Vary Height: Logarithmic dependence; diminishing returns above 200-300cm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C2C2C"/>
                </a:solidFill>
                <a:latin typeface="Inter"/>
              </a:rPr>
              <a:t>• Vary Tilt: Max rear gain at low tilt (10°); front irradiance peaks near latitude tilt (28°)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8EEF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Complete Application — Full 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Inter"/>
              </a:rPr>
              <a:t>Bifacial PV Optimizer | NSUT, New Delhi | EndSem 2026</a:t>
            </a:r>
          </a:p>
        </p:txBody>
      </p:sp>
      <p:pic>
        <p:nvPicPr>
          <p:cNvPr id="6" name="Picture 5" descr="ss9_her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463"/>
                </a:solidFill>
                <a:latin typeface="Inter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4F8A"/>
                </a:solidFill>
                <a:latin typeface="Inter"/>
              </a:rPr>
              <a:t>▶ Frontend:</a:t>
            </a:r>
            <a:r>
              <a:rPr sz="1400">
                <a:solidFill>
                  <a:srgbClr val="2C2C2C"/>
                </a:solidFill>
                <a:latin typeface="Inter"/>
              </a:rPr>
              <a:t> HTML5, CSS3, JavaScript
  Chart.js for visualization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B4F8A"/>
                </a:solidFill>
                <a:latin typeface="Inter"/>
              </a:rPr>
              <a:t>▶ Backend:</a:t>
            </a:r>
            <a:r>
              <a:rPr sz="1400">
                <a:solidFill>
                  <a:srgbClr val="2C2C2C"/>
                </a:solidFill>
                <a:latin typeface="Inter"/>
              </a:rPr>
              <a:t> Node.js + Express.js
  RESTful API design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B4F8A"/>
                </a:solidFill>
                <a:latin typeface="Inter"/>
              </a:rPr>
              <a:t>▶ Data Source:</a:t>
            </a:r>
            <a:r>
              <a:rPr sz="1400">
                <a:solidFill>
                  <a:srgbClr val="2C2C2C"/>
                </a:solidFill>
                <a:latin typeface="Inter"/>
              </a:rPr>
              <a:t> NASA POWER API
  Hourly GHI &amp; Temperature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B4F8A"/>
                </a:solidFill>
                <a:latin typeface="Inter"/>
              </a:rPr>
              <a:t>▶ Simulation:</a:t>
            </a:r>
            <a:r>
              <a:rPr sz="1400">
                <a:solidFill>
                  <a:srgbClr val="2C2C2C"/>
                </a:solidFill>
                <a:latin typeface="Inter"/>
              </a:rPr>
              <a:t> MATLAB/Simulink engine
  calculate_irradiance.m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B4F8A"/>
                </a:solidFill>
                <a:latin typeface="Inter"/>
              </a:rPr>
              <a:t>▶ Analysis:</a:t>
            </a:r>
            <a:r>
              <a:rPr sz="1400">
                <a:solidFill>
                  <a:srgbClr val="2C2C2C"/>
                </a:solidFill>
                <a:latin typeface="Inter"/>
              </a:rPr>
              <a:t> JS-based fallback engine
  Parametric sweep + I-V/P-V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