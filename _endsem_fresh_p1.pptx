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49A2A"/>
                </a:solidFill>
                <a:latin typeface="Inter"/>
              </a:rPr>
              <a:t>END-SEMESTER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Inter"/>
              </a:rPr>
              <a:t>Optimal Configuration of Bifacial
Photovoltaic Modules Using
Parametric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Inter"/>
              </a:rPr>
              <a:t>B.Tech. Project | Department of Electrical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Inter"/>
              </a:rPr>
              <a:t>Ashish Upadhyay (2022UEE4521)   •   Pratyai Chakrabarty (2022UEE4586)
Aman (2022UEE4532)   •   Aditya Garg (2022UEE4503)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49A2A"/>
                </a:solidFill>
                <a:latin typeface="Inter"/>
              </a:rPr>
              <a:t>Supervisor: Dr. Astitva Kumar, Assistant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BBBB"/>
                </a:solidFill>
                <a:latin typeface="Inter"/>
              </a:rPr>
              <a:t>Netaji Subhas University of Technology (NSUT), New Delhi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01   Introduction &amp; Motivation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02   Literature Survey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03   Research Gaps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04   Problem Statement &amp; Objectives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05   Mathematical Formulation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06   Simulink Model &amp; Platform Architecture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07   Case Study: Greater Noida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08   Results &amp; Parametric Analysis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09   Validation with Literature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10   Conclusion &amp; Future Scope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11   Publication &amp; References</a:t>
            </a:r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Inter"/>
              </a:rPr>
              <a:t>[Insert Bifacial PV Diagram / Photo]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Solar PV: fastest-growing electricity source globally — 1,500+ GW installed by 2024 (IEA)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India targets 500 GW non-fossil capacity by 2030; receives ~5,000 TWh solar energy/year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Bifacial PV modules capture irradiance on both surfaces → 5–30% higher yield vs monofacial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First commercial bifacial panels: 1984 — projected to capture ~35% of global PV market by 2027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Rear-side performance depends critically on tilt angle, ground albedo, and mounting height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Improper parameter selection negates bifacial advantages → need for optimization frameworks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Gap: No accessible, location-specific tool exists for combined parametric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Guerrero-Lemus et al. [7]:</a:t>
            </a:r>
            <a:r>
              <a:rPr sz="1800">
                <a:solidFill>
                  <a:srgbClr val="FFFFFF"/>
                </a:solidFill>
                <a:latin typeface="Inter"/>
              </a:rPr>
              <a:t> Comprehensive bifacial PV technology review; standardization needs identified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Yusufoglu et al. [2]:</a:t>
            </a:r>
            <a:r>
              <a:rPr sz="1800">
                <a:solidFill>
                  <a:srgbClr val="FFFFFF"/>
                </a:solidFill>
                <a:latin typeface="Inter"/>
              </a:rPr>
              <a:t> Annual energy yield analysis; up to 30% gain at 2m height; log-height dependence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Dincer &amp; Ozer [3]:</a:t>
            </a:r>
            <a:r>
              <a:rPr sz="1800">
                <a:solidFill>
                  <a:srgbClr val="FFFFFF"/>
                </a:solidFill>
                <a:latin typeface="Inter"/>
              </a:rPr>
              <a:t> Parametric analysis of albedo, tilt, height, mounting; 21.2% rear gain for aluminum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Sun et al. [10]:</a:t>
            </a:r>
            <a:r>
              <a:rPr sz="1800">
                <a:solidFill>
                  <a:srgbClr val="FFFFFF"/>
                </a:solidFill>
                <a:latin typeface="Inter"/>
              </a:rPr>
              <a:t> Global perspective; combined tilt-albedo-latitude optimization across locations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Ganesan et al. [4]:</a:t>
            </a:r>
            <a:r>
              <a:rPr sz="1800">
                <a:solidFill>
                  <a:srgbClr val="FFFFFF"/>
                </a:solidFill>
                <a:latin typeface="Inter"/>
              </a:rPr>
              <a:t> n-type PERT bifacial under 5 albedo surfaces; 21.4% avg gain with aluminum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Pelaez et al. [5]:</a:t>
            </a:r>
            <a:r>
              <a:rPr sz="1800">
                <a:solidFill>
                  <a:srgbClr val="FFFFFF"/>
                </a:solidFill>
                <a:latin typeface="Inter"/>
              </a:rPr>
              <a:t> Comparison of 5 irradiance models; ~20% bifacial gain validated against field data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Basak et al. [11]:</a:t>
            </a:r>
            <a:r>
              <a:rPr sz="1800">
                <a:solidFill>
                  <a:srgbClr val="FFFFFF"/>
                </a:solidFill>
                <a:latin typeface="Inter"/>
              </a:rPr>
              <a:t> Tilt optimization specific to bifacial; optimal tilt differs from monofacial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Research Gaps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1. Limited Combined Analysis —</a:t>
            </a:r>
            <a:r>
              <a:rPr sz="2000">
                <a:solidFill>
                  <a:srgbClr val="FFFFFF"/>
                </a:solidFill>
                <a:latin typeface="Inter"/>
              </a:rPr>
              <a:t> Studies evaluate tilt, albedo, height independently; combined interaction effects largely unexplored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2. Location-Specific Gap —</a:t>
            </a:r>
            <a:r>
              <a:rPr sz="2000">
                <a:solidFill>
                  <a:srgbClr val="FFFFFF"/>
                </a:solidFill>
                <a:latin typeface="Inter"/>
              </a:rPr>
              <a:t> Most studies limited to European/American climates; India-specific validation scarce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3. Accessibility Barrier —</a:t>
            </a:r>
            <a:r>
              <a:rPr sz="2000">
                <a:solidFill>
                  <a:srgbClr val="FFFFFF"/>
                </a:solidFill>
                <a:latin typeface="Inter"/>
              </a:rPr>
              <a:t> Optimization tools require PVsyst, SAM, or MATLAB licenses; inaccessible to many designers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4. Single Optimization Objective —</a:t>
            </a:r>
            <a:r>
              <a:rPr sz="2000">
                <a:solidFill>
                  <a:srgbClr val="FFFFFF"/>
                </a:solidFill>
                <a:latin typeface="Inter"/>
              </a:rPr>
              <a:t> Few frameworks consider dual objectives: max total energy vs. max rear-side gain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5. No Integrated Platform —</a:t>
            </a:r>
            <a:r>
              <a:rPr sz="2000">
                <a:solidFill>
                  <a:srgbClr val="FFFFFF"/>
                </a:solidFill>
                <a:latin typeface="Inter"/>
              </a:rPr>
              <a:t> No web-based tool combines real-time API data retrieval with parametric sweep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“How can the rear-side energy contribution and overall performance of bifacial PV systems be maximized by optimally selecting tilt angle, ground albedo, and mounting height for a given geographical location?”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9A2A"/>
                </a:solidFill>
                <a:latin typeface="Inter"/>
              </a:rP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Develop mathematical model for bifacial PV (front + rear irradiance with view factors)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Implement in MATLAB/Simulink for I-V and P-V characteristic simulation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Build web-based frontend platform with NASA POWER API integration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Perform parametric sweep to identify optimal configurations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Validate framework through case study and literature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Mathematical Formulation — Front Irradiance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(1):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G_tot = G_front + G_rear</a:t>
            </a:r>
            <a:r>
              <a:rPr sz="1400">
                <a:solidFill>
                  <a:srgbClr val="BBBBBB"/>
                </a:solidFill>
                <a:latin typeface="Inter"/>
              </a:rPr>
              <a:t>
         Total effective irradiance on bifacial module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(2):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beam_tilted = DNI × max(0, cos θᵢ)</a:t>
            </a:r>
            <a:r>
              <a:rPr sz="1400">
                <a:solidFill>
                  <a:srgbClr val="BBBBBB"/>
                </a:solidFill>
                <a:latin typeface="Inter"/>
              </a:rPr>
              <a:t>
         Direct beam on tilted surface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(3):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sky_vf = (1 + cos β) / 2</a:t>
            </a:r>
            <a:r>
              <a:rPr sz="1400">
                <a:solidFill>
                  <a:srgbClr val="BBBBBB"/>
                </a:solidFill>
                <a:latin typeface="Inter"/>
              </a:rPr>
              <a:t>
         Sky view factor (Liu-Jordan model)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(4):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gnd_vf = (1 − cos β) / 2</a:t>
            </a:r>
            <a:r>
              <a:rPr sz="1400">
                <a:solidFill>
                  <a:srgbClr val="BBBBBB"/>
                </a:solidFill>
                <a:latin typeface="Inter"/>
              </a:rPr>
              <a:t>
         Ground view factor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(5):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G_front = beam + DHI·sky_vf + GHI·ρ·gnd_vf</a:t>
            </a:r>
            <a:r>
              <a:rPr sz="1400">
                <a:solidFill>
                  <a:srgbClr val="BBBBBB"/>
                </a:solidFill>
                <a:latin typeface="Inter"/>
              </a:rPr>
              <a:t>
         Front irradiance: beam + diffuse + reflected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Mathematical Formulation — Rear Irradiance &amp; 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(6):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γ_prof = arctan(tan α_sun / cos(γ_sun − γ_panel))</a:t>
            </a:r>
            <a:r>
              <a:rPr sz="1300">
                <a:solidFill>
                  <a:srgbClr val="BBBBBB"/>
                </a:solidFill>
                <a:latin typeface="Inter"/>
              </a:rPr>
              <a:t>
         Solar profile angle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(7):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shadow_lower = h / tan(γ_prof)</a:t>
            </a:r>
            <a:r>
              <a:rPr sz="1300">
                <a:solidFill>
                  <a:srgbClr val="BBBBBB"/>
                </a:solidFill>
                <a:latin typeface="Inter"/>
              </a:rPr>
              <a:t>
         Lower shadow boundary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(8):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shadow_upper = (h+W·sinβ) / tan(γ_prof)</a:t>
            </a:r>
            <a:r>
              <a:rPr sz="1300">
                <a:solidFill>
                  <a:srgbClr val="BBBBBB"/>
                </a:solidFill>
                <a:latin typeface="Inter"/>
              </a:rPr>
              <a:t>
         Upper shadow boundary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(9):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F_V = ∫ cosθ₁·cosθ₂ / (2r) dx</a:t>
            </a:r>
            <a:r>
              <a:rPr sz="1300">
                <a:solidFill>
                  <a:srgbClr val="BBBBBB"/>
                </a:solidFill>
                <a:latin typeface="Inter"/>
              </a:rPr>
              <a:t>
         Shadow view factor (Simpson’s rule)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(10):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G_r0 = ρ·DHI·rear_vf + ρ·(GHI−DHI)·(rear_vf−F_V)</a:t>
            </a:r>
            <a:r>
              <a:rPr sz="1300">
                <a:solidFill>
                  <a:srgbClr val="BBBBBB"/>
                </a:solidFill>
                <a:latin typeface="Inter"/>
              </a:rPr>
              <a:t>
         Rear irradiance with shadow correction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(11):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G_rear = G_r0 × φ_bifaciality</a:t>
            </a:r>
            <a:r>
              <a:rPr sz="1300">
                <a:solidFill>
                  <a:srgbClr val="BBBBBB"/>
                </a:solidFill>
                <a:latin typeface="Inter"/>
              </a:rPr>
              <a:t>
         Scaled by bifaciality factor (0.7)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Simulink Model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BBBB"/>
                </a:solidFill>
                <a:latin typeface="Inter"/>
              </a:rPr>
              <a:t>[Insert Simulink Model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calculate_irradiance MATLAB function
implements Equations (1)–(11)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PV Array block: single-diode model
550 Wp bifacial module, 72×2 half-cells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V_ramp sweep: 0V → Voc for complete
I-V / P-V characteristic curves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NOCT thermal model for cell
temperature derating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Simpson’s rule numerical integration
for shadow view factor F_V (N=200)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Frontend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User Interface:</a:t>
            </a:r>
            <a:r>
              <a:rPr sz="1800">
                <a:solidFill>
                  <a:srgbClr val="FFFFFF"/>
                </a:solidFill>
                <a:latin typeface="Inter"/>
              </a:rPr>
              <a:t> City, date range, sweep parameters, albedo surface type, optimization objective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Backend (Node.js):</a:t>
            </a:r>
            <a:r>
              <a:rPr sz="1800">
                <a:solidFill>
                  <a:srgbClr val="FFFFFF"/>
                </a:solidFill>
                <a:latin typeface="Inter"/>
              </a:rPr>
              <a:t> Express server, API routing, input validation, parametric sweep coordination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NASA POWER API:</a:t>
            </a:r>
            <a:r>
              <a:rPr sz="1800">
                <a:solidFill>
                  <a:srgbClr val="FFFFFF"/>
                </a:solidFill>
                <a:latin typeface="Inter"/>
              </a:rPr>
              <a:t> Hourly GHI, DHI, DNI, temperature — any global location, 0.5° resolution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Analysis Engine:</a:t>
            </a:r>
            <a:r>
              <a:rPr sz="1800">
                <a:solidFill>
                  <a:srgbClr val="FFFFFF"/>
                </a:solidFill>
                <a:latin typeface="Inter"/>
              </a:rPr>
              <a:t> Erbs decomposition, Liu-Jordan transposition, view factor computation, I-V/P-V curves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Results Dashboard:</a:t>
            </a:r>
            <a:r>
              <a:rPr sz="1800">
                <a:solidFill>
                  <a:srgbClr val="FFFFFF"/>
                </a:solidFill>
                <a:latin typeface="Inter"/>
              </a:rPr>
              <a:t> Optimal config tables, charts, individual parameter variation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