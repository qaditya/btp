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i+lrK+w4xERAyRm7YyKHQCTUn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4BAD9B0-5DEC-45F8-B0FA-E011A01DE7E9}">
  <a:tblStyle styleId="{04BAD9B0-5DEC-45F8-B0FA-E011A01DE7E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9EBC3D4C-6614-4744-B9CA-B337A5B29830}" styleName="Table_1">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c0cb13ea2a_1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6" name="Google Shape;86;g3c0cb13ea2a_1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7" name="Google Shape;87;g3c0cb13ea2a_1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3" name="Google Shape;11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1" name="Google Shape;12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9" name="Google Shape;12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7" name="Google Shape;13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6" name="Google Shape;14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c0c4028e41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6" name="Google Shape;156;g3c0c4028e41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0cb13ea2a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6" name="Google Shape;166;g3c0cb13ea2a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6" name="Google Shape;17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c0cb13ea2a_1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5" name="Google Shape;185;g3c0cb13ea2a_1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cbd4cd242c_9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cbd4cd242c_9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7" name="Google Shape;197;g3cbd4cd242c_9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cbd4cd242c_9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cbd4cd242c_9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8" name="Google Shape;208;g3cbd4cd242c_9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cbd4cd242c_1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cbd4cd242c_10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9" name="Google Shape;219;g3cbd4cd242c_10_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cbd4cd242c_9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7" name="Google Shape;227;g3cbd4cd242c_9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c47b4ca43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6" name="Google Shape;236;g3c47b4ca43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4" name="Google Shape;24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2" name="Google Shape;25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0" name="Google Shape;26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2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3" name="Google Shape;23;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3" name="Google Shape;33;p2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9" name="Google Shape;39;p2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6" name="Google Shape;46;p2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2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2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5" name="Google Shape;5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0" name="Google Shape;6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7" name="Google Shape;67;p30"/>
          <p:cNvSpPr/>
          <p:nvPr>
            <p:ph idx="2" type="pic"/>
          </p:nvPr>
        </p:nvSpPr>
        <p:spPr>
          <a:xfrm>
            <a:off x="5183188" y="987425"/>
            <a:ext cx="6172200" cy="4873625"/>
          </a:xfrm>
          <a:prstGeom prst="rect">
            <a:avLst/>
          </a:prstGeom>
          <a:noFill/>
          <a:ln>
            <a:noFill/>
          </a:ln>
        </p:spPr>
      </p:sp>
      <p:sp>
        <p:nvSpPr>
          <p:cNvPr id="68" name="Google Shape;6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4" name="Google Shape;7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0" name="Google Shape;8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rtl="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rtl="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rtl="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rtl="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rtl="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rtl="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rtl="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rtl="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jp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2.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2.png"/><Relationship Id="rId5"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hyperlink" Target="http://drive.google.com/file/d/1uoshwWXLJoRC3BFi8_16a5-nccVB6bb9/view" TargetMode="External"/><Relationship Id="rId5" Type="http://schemas.openxmlformats.org/officeDocument/2006/relationships/image" Target="../media/image1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g3c0cb13ea2a_1_9"/>
          <p:cNvPicPr preferRelativeResize="0"/>
          <p:nvPr/>
        </p:nvPicPr>
        <p:blipFill>
          <a:blip r:embed="rId3">
            <a:alphaModFix/>
          </a:blip>
          <a:stretch>
            <a:fillRect/>
          </a:stretch>
        </p:blipFill>
        <p:spPr>
          <a:xfrm>
            <a:off x="0" y="0"/>
            <a:ext cx="12192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u="sng">
                <a:latin typeface="Times New Roman"/>
                <a:ea typeface="Times New Roman"/>
                <a:cs typeface="Times New Roman"/>
                <a:sym typeface="Times New Roman"/>
              </a:rPr>
              <a:t>Introduction</a:t>
            </a:r>
            <a:br>
              <a:rPr lang="en-US" u="sng">
                <a:latin typeface="Times New Roman"/>
                <a:ea typeface="Times New Roman"/>
                <a:cs typeface="Times New Roman"/>
                <a:sym typeface="Times New Roman"/>
              </a:rPr>
            </a:br>
            <a:endParaRPr u="sng">
              <a:latin typeface="Times New Roman"/>
              <a:ea typeface="Times New Roman"/>
              <a:cs typeface="Times New Roman"/>
              <a:sym typeface="Times New Roman"/>
            </a:endParaRPr>
          </a:p>
        </p:txBody>
      </p:sp>
      <p:sp>
        <p:nvSpPr>
          <p:cNvPr id="95" name="Google Shape;95;p2"/>
          <p:cNvSpPr txBox="1"/>
          <p:nvPr>
            <p:ph idx="1" type="body"/>
          </p:nvPr>
        </p:nvSpPr>
        <p:spPr>
          <a:xfrm>
            <a:off x="335950" y="5163575"/>
            <a:ext cx="11643000" cy="1557900"/>
          </a:xfrm>
          <a:prstGeom prst="rect">
            <a:avLst/>
          </a:prstGeom>
          <a:noFill/>
          <a:ln>
            <a:noFill/>
          </a:ln>
        </p:spPr>
        <p:txBody>
          <a:bodyPr anchorCtr="0" anchor="t" bIns="45700" lIns="91425" spcFirstLastPara="1" rIns="91425" wrap="square" tIns="45700">
            <a:normAutofit/>
          </a:bodyPr>
          <a:lstStyle/>
          <a:p>
            <a:pPr indent="-330200" lvl="0" marL="457200" rtl="0" algn="l">
              <a:lnSpc>
                <a:spcPct val="115000"/>
              </a:lnSpc>
              <a:spcBef>
                <a:spcPts val="1200"/>
              </a:spcBef>
              <a:spcAft>
                <a:spcPts val="0"/>
              </a:spcAft>
              <a:buSzPts val="1600"/>
              <a:buFont typeface="Times New Roman"/>
              <a:buChar char="❖"/>
            </a:pPr>
            <a:r>
              <a:rPr b="1" lang="en-US" sz="1600">
                <a:latin typeface="Times New Roman"/>
                <a:ea typeface="Times New Roman"/>
                <a:cs typeface="Times New Roman"/>
                <a:sym typeface="Times New Roman"/>
              </a:rPr>
              <a:t>India's Clean Energy Imperative</a:t>
            </a:r>
            <a:r>
              <a:rPr lang="en-US" sz="1600">
                <a:latin typeface="Times New Roman"/>
                <a:ea typeface="Times New Roman"/>
                <a:cs typeface="Times New Roman"/>
                <a:sym typeface="Times New Roman"/>
              </a:rPr>
              <a:t> 500 GW non-fossil capacity + 50% renewable electricity by 2030 — solar is the fastest path there.</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b="1" lang="en-US" sz="1600">
                <a:latin typeface="Times New Roman"/>
                <a:ea typeface="Times New Roman"/>
                <a:cs typeface="Times New Roman"/>
                <a:sym typeface="Times New Roman"/>
              </a:rPr>
              <a:t>Bifacial Modules: Double the Surface, Higher the Yield</a:t>
            </a:r>
            <a:r>
              <a:rPr lang="en-US" sz="1600">
                <a:latin typeface="Times New Roman"/>
                <a:ea typeface="Times New Roman"/>
                <a:cs typeface="Times New Roman"/>
                <a:sym typeface="Times New Roman"/>
              </a:rPr>
              <a:t> Unlike conventional panels, bifacial modules harvest energy from both sides capturing reflected ground light for significantly greater output.</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b="1" lang="en-US" sz="1600">
                <a:latin typeface="Times New Roman"/>
                <a:ea typeface="Times New Roman"/>
                <a:cs typeface="Times New Roman"/>
                <a:sym typeface="Times New Roman"/>
              </a:rPr>
              <a:t>Configuration is Everything</a:t>
            </a:r>
            <a:r>
              <a:rPr lang="en-US" sz="1600">
                <a:latin typeface="Times New Roman"/>
                <a:ea typeface="Times New Roman"/>
                <a:cs typeface="Times New Roman"/>
                <a:sym typeface="Times New Roman"/>
              </a:rPr>
              <a:t> Tilt, spacing, and albedo directly determine rear-side gain. Getting the setup right is what separates good performance from optimal performance.</a:t>
            </a:r>
            <a:endParaRPr sz="2308">
              <a:latin typeface="Times New Roman"/>
              <a:ea typeface="Times New Roman"/>
              <a:cs typeface="Times New Roman"/>
              <a:sym typeface="Times New Roman"/>
            </a:endParaRPr>
          </a:p>
        </p:txBody>
      </p:sp>
      <p:sp>
        <p:nvSpPr>
          <p:cNvPr id="96" name="Google Shape;9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97" name="Google Shape;97;p2"/>
          <p:cNvPicPr preferRelativeResize="0"/>
          <p:nvPr/>
        </p:nvPicPr>
        <p:blipFill rotWithShape="1">
          <a:blip r:embed="rId3">
            <a:alphaModFix/>
          </a:blip>
          <a:srcRect b="0" l="0" r="0" t="0"/>
          <a:stretch/>
        </p:blipFill>
        <p:spPr>
          <a:xfrm>
            <a:off x="11355439" y="34719"/>
            <a:ext cx="805938" cy="805938"/>
          </a:xfrm>
          <a:prstGeom prst="rect">
            <a:avLst/>
          </a:prstGeom>
          <a:noFill/>
          <a:ln>
            <a:noFill/>
          </a:ln>
        </p:spPr>
      </p:pic>
      <p:sp>
        <p:nvSpPr>
          <p:cNvPr id="98" name="Google Shape;98;p2"/>
          <p:cNvSpPr/>
          <p:nvPr/>
        </p:nvSpPr>
        <p:spPr>
          <a:xfrm>
            <a:off x="8337551" y="4137468"/>
            <a:ext cx="1320800" cy="465667"/>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make an image on bifacial pv on rooftops and show the reflected light and direct light that they capture on rear and front side " id="99" name="Google Shape;99;p2"/>
          <p:cNvPicPr preferRelativeResize="0"/>
          <p:nvPr/>
        </p:nvPicPr>
        <p:blipFill>
          <a:blip r:embed="rId4">
            <a:alphaModFix/>
          </a:blip>
          <a:stretch>
            <a:fillRect/>
          </a:stretch>
        </p:blipFill>
        <p:spPr>
          <a:xfrm>
            <a:off x="6796650" y="1253650"/>
            <a:ext cx="5182350" cy="3681149"/>
          </a:xfrm>
          <a:prstGeom prst="rect">
            <a:avLst/>
          </a:prstGeom>
          <a:noFill/>
          <a:ln cap="flat" cmpd="sng" w="19050">
            <a:solidFill>
              <a:schemeClr val="dk2"/>
            </a:solidFill>
            <a:prstDash val="solid"/>
            <a:round/>
            <a:headEnd len="sm" w="sm" type="none"/>
            <a:tailEnd len="sm" w="sm" type="none"/>
          </a:ln>
        </p:spPr>
      </p:pic>
      <p:cxnSp>
        <p:nvCxnSpPr>
          <p:cNvPr id="100" name="Google Shape;100;p2"/>
          <p:cNvCxnSpPr/>
          <p:nvPr/>
        </p:nvCxnSpPr>
        <p:spPr>
          <a:xfrm flipH="1">
            <a:off x="6399425" y="1253650"/>
            <a:ext cx="54900" cy="3784500"/>
          </a:xfrm>
          <a:prstGeom prst="straightConnector1">
            <a:avLst/>
          </a:prstGeom>
          <a:noFill/>
          <a:ln cap="flat" cmpd="sng" w="9525">
            <a:solidFill>
              <a:schemeClr val="dk2"/>
            </a:solidFill>
            <a:prstDash val="solid"/>
            <a:round/>
            <a:headEnd len="med" w="med" type="none"/>
            <a:tailEnd len="med" w="med" type="none"/>
          </a:ln>
        </p:spPr>
      </p:cxnSp>
      <p:pic>
        <p:nvPicPr>
          <p:cNvPr id="101" name="Google Shape;101;p2"/>
          <p:cNvPicPr preferRelativeResize="0"/>
          <p:nvPr/>
        </p:nvPicPr>
        <p:blipFill>
          <a:blip r:embed="rId5">
            <a:alphaModFix/>
          </a:blip>
          <a:stretch>
            <a:fillRect/>
          </a:stretch>
        </p:blipFill>
        <p:spPr>
          <a:xfrm>
            <a:off x="232300" y="1253650"/>
            <a:ext cx="5956649" cy="3681150"/>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838200" y="-227542"/>
            <a:ext cx="105156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u="sng">
                <a:latin typeface="Times New Roman"/>
                <a:ea typeface="Times New Roman"/>
                <a:cs typeface="Times New Roman"/>
                <a:sym typeface="Times New Roman"/>
              </a:rPr>
              <a:t>Literature Survey</a:t>
            </a:r>
            <a:endParaRPr/>
          </a:p>
        </p:txBody>
      </p:sp>
      <p:sp>
        <p:nvSpPr>
          <p:cNvPr id="107" name="Google Shape;107;p3"/>
          <p:cNvSpPr txBox="1"/>
          <p:nvPr>
            <p:ph idx="1" type="body"/>
          </p:nvPr>
        </p:nvSpPr>
        <p:spPr>
          <a:xfrm>
            <a:off x="649288" y="1489075"/>
            <a:ext cx="10898187" cy="50038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t/>
            </a:r>
            <a:endParaRPr/>
          </a:p>
          <a:p>
            <a:pPr indent="-50800" lvl="0" marL="228600" rtl="0" algn="just">
              <a:lnSpc>
                <a:spcPct val="90000"/>
              </a:lnSpc>
              <a:spcBef>
                <a:spcPts val="1000"/>
              </a:spcBef>
              <a:spcAft>
                <a:spcPts val="0"/>
              </a:spcAft>
              <a:buClr>
                <a:schemeClr val="dk1"/>
              </a:buClr>
              <a:buSzPts val="2800"/>
              <a:buFont typeface="Arial"/>
              <a:buNone/>
            </a:pPr>
            <a:r>
              <a:t/>
            </a:r>
            <a:endParaRPr/>
          </a:p>
          <a:p>
            <a:pPr indent="-50800" lvl="0" marL="228600" rtl="0" algn="just">
              <a:lnSpc>
                <a:spcPct val="90000"/>
              </a:lnSpc>
              <a:spcBef>
                <a:spcPts val="1000"/>
              </a:spcBef>
              <a:spcAft>
                <a:spcPts val="0"/>
              </a:spcAft>
              <a:buClr>
                <a:schemeClr val="dk1"/>
              </a:buClr>
              <a:buSzPts val="2800"/>
              <a:buFont typeface="Arial"/>
              <a:buNone/>
            </a:pPr>
            <a:r>
              <a:t/>
            </a:r>
            <a:endParaRPr/>
          </a:p>
        </p:txBody>
      </p:sp>
      <p:sp>
        <p:nvSpPr>
          <p:cNvPr id="108" name="Google Shape;108;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09" name="Google Shape;109;p3"/>
          <p:cNvPicPr preferRelativeResize="0"/>
          <p:nvPr/>
        </p:nvPicPr>
        <p:blipFill rotWithShape="1">
          <a:blip r:embed="rId3">
            <a:alphaModFix/>
          </a:blip>
          <a:srcRect b="0" l="0" r="0" t="0"/>
          <a:stretch/>
        </p:blipFill>
        <p:spPr>
          <a:xfrm>
            <a:off x="11355439" y="34719"/>
            <a:ext cx="805938" cy="805938"/>
          </a:xfrm>
          <a:prstGeom prst="rect">
            <a:avLst/>
          </a:prstGeom>
          <a:noFill/>
          <a:ln>
            <a:noFill/>
          </a:ln>
        </p:spPr>
      </p:pic>
      <p:graphicFrame>
        <p:nvGraphicFramePr>
          <p:cNvPr id="110" name="Google Shape;110;p3"/>
          <p:cNvGraphicFramePr/>
          <p:nvPr/>
        </p:nvGraphicFramePr>
        <p:xfrm>
          <a:off x="-10160" y="812800"/>
          <a:ext cx="3000000" cy="3000000"/>
        </p:xfrm>
        <a:graphic>
          <a:graphicData uri="http://schemas.openxmlformats.org/drawingml/2006/table">
            <a:tbl>
              <a:tblPr bandRow="1" firstRow="1">
                <a:noFill/>
                <a:tableStyleId>{04BAD9B0-5DEC-45F8-B0FA-E011A01DE7E9}</a:tableStyleId>
              </a:tblPr>
              <a:tblGrid>
                <a:gridCol w="762000"/>
                <a:gridCol w="2019300"/>
                <a:gridCol w="4699000"/>
                <a:gridCol w="4726975"/>
              </a:tblGrid>
              <a:tr h="368300">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S.No.</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Paper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Area of Focus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Findings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770125">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Times New Roman"/>
                        <a:buNone/>
                      </a:pPr>
                      <a:r>
                        <a:rPr b="1" lang="en-US">
                          <a:latin typeface="Times New Roman"/>
                          <a:ea typeface="Times New Roman"/>
                          <a:cs typeface="Times New Roman"/>
                          <a:sym typeface="Times New Roman"/>
                        </a:rPr>
                        <a:t>Furkan Dincer &amp; Emre Ozer</a:t>
                      </a:r>
                      <a:r>
                        <a:rPr lang="en-US">
                          <a:latin typeface="Times New Roman"/>
                          <a:ea typeface="Times New Roman"/>
                          <a:cs typeface="Times New Roman"/>
                          <a:sym typeface="Times New Roman"/>
                        </a:rPr>
                        <a:t> — "Optimization of Rear-Side Energy Contribution in Bifacial PV Panels: A Parametric Analysis..." (</a:t>
                      </a:r>
                      <a:r>
                        <a:rPr i="1" lang="en-US">
                          <a:latin typeface="Times New Roman"/>
                          <a:ea typeface="Times New Roman"/>
                          <a:cs typeface="Times New Roman"/>
                          <a:sym typeface="Times New Roman"/>
                        </a:rPr>
                        <a:t>Energies</a:t>
                      </a:r>
                      <a:r>
                        <a:rPr lang="en-US">
                          <a:latin typeface="Times New Roman"/>
                          <a:ea typeface="Times New Roman"/>
                          <a:cs typeface="Times New Roman"/>
                          <a:sym typeface="Times New Roman"/>
                        </a:rPr>
                        <a:t>, 2025)</a:t>
                      </a:r>
                      <a:endParaRPr>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400"/>
                        <a:buFont typeface="Calibri"/>
                        <a:buNone/>
                      </a:pPr>
                      <a:r>
                        <a:t/>
                      </a:r>
                      <a:endParaRPr>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Times New Roman"/>
                        <a:buNone/>
                      </a:pPr>
                      <a:r>
                        <a:rPr lang="en-US">
                          <a:latin typeface="Times New Roman"/>
                          <a:ea typeface="Times New Roman"/>
                          <a:cs typeface="Times New Roman"/>
                          <a:sym typeface="Times New Roman"/>
                        </a:rPr>
                        <a:t>Systematic investigation of how four key parameters (albedo, tilt angle, panel height, and mounting configuration) affect rear-side energy generation and overall bifacial panel efficiency.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1200"/>
                        </a:spcBef>
                        <a:spcAft>
                          <a:spcPts val="1200"/>
                        </a:spcAft>
                        <a:buClr>
                          <a:schemeClr val="dk1"/>
                        </a:buClr>
                        <a:buSzPts val="1100"/>
                        <a:buFont typeface="Arial"/>
                        <a:buNone/>
                      </a:pPr>
                      <a:r>
                        <a:rPr b="1" lang="en-US">
                          <a:latin typeface="Times New Roman"/>
                          <a:ea typeface="Times New Roman"/>
                          <a:cs typeface="Times New Roman"/>
                          <a:sym typeface="Times New Roman"/>
                        </a:rPr>
                        <a:t>Technical findings:</a:t>
                      </a:r>
                      <a:r>
                        <a:rPr lang="en-US">
                          <a:latin typeface="Times New Roman"/>
                          <a:ea typeface="Times New Roman"/>
                          <a:cs typeface="Times New Roman"/>
                          <a:sym typeface="Times New Roman"/>
                        </a:rPr>
                        <a:t> * High-albedo surfaces like aluminum (21.2%) maximize rear yield. * Increasing tilt up to 50° and higher panel elevation enhance back-side generation. * Horizontal mounting yields slightly more (4.5%) than vertical (4.1%) due to increased exposure to ground-reflected radiation </a:t>
                      </a:r>
                      <a:r>
                        <a:rPr b="1" lang="en-US">
                          <a:latin typeface="Times New Roman"/>
                          <a:ea typeface="Times New Roman"/>
                          <a:cs typeface="Times New Roman"/>
                          <a:sym typeface="Times New Roman"/>
                        </a:rPr>
                        <a:t>Gaps/Findings relevant to our work:</a:t>
                      </a:r>
                      <a:r>
                        <a:rPr lang="en-US">
                          <a:latin typeface="Times New Roman"/>
                          <a:ea typeface="Times New Roman"/>
                          <a:cs typeface="Times New Roman"/>
                          <a:sym typeface="Times New Roman"/>
                        </a:rPr>
                        <a:t> * While it isolates single variables successfully, finding the true "optimal configuration" .</a:t>
                      </a:r>
                      <a:endParaRPr b="1">
                        <a:solidFill>
                          <a:srgbClr val="000000"/>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793600">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Hanna Langels &amp; Fredrik Gannedahl</a:t>
                      </a:r>
                      <a:r>
                        <a:rPr b="0" i="0" lang="en-US" sz="1400" u="none" strike="noStrike">
                          <a:solidFill>
                            <a:srgbClr val="000000"/>
                          </a:solidFill>
                          <a:latin typeface="Times New Roman"/>
                          <a:ea typeface="Times New Roman"/>
                          <a:cs typeface="Times New Roman"/>
                          <a:sym typeface="Times New Roman"/>
                        </a:rPr>
                        <a:t> — “BiFacial PV Systems: technological &amp; practical rooftop comparison” (</a:t>
                      </a:r>
                      <a:r>
                        <a:rPr i="1" lang="en-US">
                          <a:latin typeface="Times New Roman"/>
                          <a:ea typeface="Times New Roman"/>
                          <a:cs typeface="Times New Roman"/>
                          <a:sym typeface="Times New Roman"/>
                        </a:rPr>
                        <a:t>Uppsala University (Master's Thesis)</a:t>
                      </a:r>
                      <a:r>
                        <a:rPr lang="en-US">
                          <a:latin typeface="Times New Roman"/>
                          <a:ea typeface="Times New Roman"/>
                          <a:cs typeface="Times New Roman"/>
                          <a:sym typeface="Times New Roman"/>
                        </a:rPr>
                        <a:t>, 2018</a:t>
                      </a:r>
                      <a:r>
                        <a:rPr b="0" i="0" lang="en-US" sz="1400" u="none" strike="noStrike">
                          <a:solidFill>
                            <a:srgbClr val="000000"/>
                          </a:solidFill>
                          <a:latin typeface="Times New Roman"/>
                          <a:ea typeface="Times New Roman"/>
                          <a:cs typeface="Times New Roman"/>
                          <a:sym typeface="Times New Roman"/>
                        </a:rPr>
                        <a:t>)</a:t>
                      </a:r>
                      <a:endParaRPr i="0" sz="140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Times New Roman"/>
                        <a:buNone/>
                      </a:pPr>
                      <a:r>
                        <a:rPr b="0" i="0" lang="en-US" sz="1400" u="none" strike="noStrike">
                          <a:solidFill>
                            <a:schemeClr val="dk1"/>
                          </a:solidFill>
                          <a:latin typeface="Times New Roman"/>
                          <a:ea typeface="Times New Roman"/>
                          <a:cs typeface="Times New Roman"/>
                          <a:sym typeface="Times New Roman"/>
                        </a:rPr>
                        <a:t>On-site comparison of bifacial and standard modules on a rooftop installation — emphasis on how installation choices (tilt, elevation, roof surface reflectivity) and module construction affect measured system output; used system power logs and simulation tools for sensitivity interpretation.</a:t>
                      </a:r>
                      <a:endParaRPr sz="140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Technical findings: *</a:t>
                      </a:r>
                      <a:r>
                        <a:rPr b="0" i="0" lang="en-US" sz="1400" u="none" strike="noStrike">
                          <a:solidFill>
                            <a:srgbClr val="000000"/>
                          </a:solidFill>
                          <a:latin typeface="Times New Roman"/>
                          <a:ea typeface="Times New Roman"/>
                          <a:cs typeface="Times New Roman"/>
                          <a:sym typeface="Times New Roman"/>
                        </a:rPr>
                        <a:t>Measured rear-gain ≈ +7.8%(energy) vs monofacial PV; up to +16.2% with higher albedo. </a:t>
                      </a:r>
                      <a:endParaRPr sz="14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Times New Roman"/>
                        <a:buNone/>
                      </a:pPr>
                      <a:r>
                        <a:rPr b="0" i="0" lang="en-US" sz="1400" u="none" strike="noStrike">
                          <a:solidFill>
                            <a:srgbClr val="000000"/>
                          </a:solidFill>
                          <a:latin typeface="Times New Roman"/>
                          <a:ea typeface="Times New Roman"/>
                          <a:cs typeface="Times New Roman"/>
                          <a:sym typeface="Times New Roman"/>
                        </a:rPr>
                        <a:t>*Rear irradiance strongly controlled by ground albedo, module elevation, tilt and shading. </a:t>
                      </a:r>
                      <a:endParaRPr sz="1400">
                        <a:latin typeface="Times New Roman"/>
                        <a:ea typeface="Times New Roman"/>
                        <a:cs typeface="Times New Roman"/>
                        <a:sym typeface="Times New Roman"/>
                      </a:endParaRPr>
                    </a:p>
                    <a:p>
                      <a:pPr indent="0" lvl="0" marL="0" marR="0" rtl="0" algn="l">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Gaps/Findings relevant to our work: *</a:t>
                      </a:r>
                      <a:r>
                        <a:rPr b="0" i="0" lang="en-US" sz="1400" u="none" strike="noStrike">
                          <a:solidFill>
                            <a:srgbClr val="000000"/>
                          </a:solidFill>
                          <a:latin typeface="Times New Roman"/>
                          <a:ea typeface="Times New Roman"/>
                          <a:cs typeface="Times New Roman"/>
                          <a:sym typeface="Times New Roman"/>
                        </a:rPr>
                        <a:t>Façade installations typically have lower rear irradiance and constrained elevation/tilt which leads to substantially smaller bifacial gains than rooftop cases.</a:t>
                      </a:r>
                      <a:endParaRPr sz="140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006850">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A.A.F. Husain, W.Z.W. Hasan, Suhaidi Shafie, Mohd N. Hamidon, Shyam S. Pandey </a:t>
                      </a:r>
                      <a:r>
                        <a:rPr b="0" i="0" lang="en-US" sz="1400" u="none" strike="noStrike">
                          <a:solidFill>
                            <a:srgbClr val="000000"/>
                          </a:solidFill>
                          <a:latin typeface="Times New Roman"/>
                          <a:ea typeface="Times New Roman"/>
                          <a:cs typeface="Times New Roman"/>
                          <a:sym typeface="Times New Roman"/>
                        </a:rPr>
                        <a:t>— A review of transparent solar photovoltaic technologies.(</a:t>
                      </a:r>
                      <a:r>
                        <a:rPr i="1" lang="en-US">
                          <a:latin typeface="Times New Roman"/>
                          <a:ea typeface="Times New Roman"/>
                          <a:cs typeface="Times New Roman"/>
                          <a:sym typeface="Times New Roman"/>
                        </a:rPr>
                        <a:t>Renewable and Sustainable Energy Reviews</a:t>
                      </a:r>
                      <a:r>
                        <a:rPr lang="en-US">
                          <a:latin typeface="Times New Roman"/>
                          <a:ea typeface="Times New Roman"/>
                          <a:cs typeface="Times New Roman"/>
                          <a:sym typeface="Times New Roman"/>
                        </a:rPr>
                        <a:t>, 2018</a:t>
                      </a:r>
                      <a:r>
                        <a:rPr lang="en-US" sz="1100">
                          <a:latin typeface="Arial"/>
                          <a:ea typeface="Arial"/>
                          <a:cs typeface="Arial"/>
                          <a:sym typeface="Arial"/>
                        </a:rPr>
                        <a:t>)</a:t>
                      </a:r>
                      <a:endParaRPr sz="140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000000"/>
                        </a:buClr>
                        <a:buSzPts val="1400"/>
                        <a:buFont typeface="Times New Roman"/>
                        <a:buNone/>
                      </a:pPr>
                      <a:r>
                        <a:rPr b="0" i="0" lang="en-US" sz="1400" u="none" strike="noStrike">
                          <a:solidFill>
                            <a:srgbClr val="000000"/>
                          </a:solidFill>
                          <a:latin typeface="Times New Roman"/>
                          <a:ea typeface="Times New Roman"/>
                          <a:cs typeface="Times New Roman"/>
                          <a:sym typeface="Times New Roman"/>
                        </a:rPr>
                        <a:t>This paper focuses on transparent solar photovoltaic (TPV) technologies, reviewing their materials, designs, and performance trade-offs. It examines how different approaches balance optical transparency with power conversion efficiency, stability, and cost. </a:t>
                      </a:r>
                      <a:endParaRPr sz="140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Technical findings: *</a:t>
                      </a:r>
                      <a:r>
                        <a:rPr b="0" i="0" lang="en-US" sz="1400" u="none" strike="noStrike">
                          <a:solidFill>
                            <a:srgbClr val="000000"/>
                          </a:solidFill>
                          <a:latin typeface="Times New Roman"/>
                          <a:ea typeface="Times New Roman"/>
                          <a:cs typeface="Times New Roman"/>
                          <a:sym typeface="Times New Roman"/>
                        </a:rPr>
                        <a:t>Transparent PVs achieve 20–70% visible light transmission while harvesting UV/IR for power.</a:t>
                      </a:r>
                      <a:endParaRPr sz="14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Times New Roman"/>
                        <a:buNone/>
                      </a:pPr>
                      <a:r>
                        <a:rPr b="0" i="0" lang="en-US" sz="1400" u="none" strike="noStrike">
                          <a:solidFill>
                            <a:srgbClr val="000000"/>
                          </a:solidFill>
                          <a:latin typeface="Times New Roman"/>
                          <a:ea typeface="Times New Roman"/>
                          <a:cs typeface="Times New Roman"/>
                          <a:sym typeface="Times New Roman"/>
                        </a:rPr>
                        <a:t>*Organic, dye-sensitized, and perovskite cells show promising efficiencies but face transparency–performance trade-offs.</a:t>
                      </a:r>
                      <a:endParaRPr sz="14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Gaps/Findings relevant to our work: *</a:t>
                      </a:r>
                      <a:r>
                        <a:rPr b="0" i="0" lang="en-US" sz="1400" u="none" strike="noStrike">
                          <a:solidFill>
                            <a:srgbClr val="000000"/>
                          </a:solidFill>
                          <a:latin typeface="Times New Roman"/>
                          <a:ea typeface="Times New Roman"/>
                          <a:cs typeface="Times New Roman"/>
                          <a:sym typeface="Times New Roman"/>
                        </a:rPr>
                        <a:t>No clear solution for balancing efficiency and transparency. Scalability and cost-effective large-area modules remain unproven. </a:t>
                      </a:r>
                      <a:endParaRPr sz="140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4"/>
          <p:cNvSpPr txBox="1"/>
          <p:nvPr>
            <p:ph type="title"/>
          </p:nvPr>
        </p:nvSpPr>
        <p:spPr>
          <a:xfrm>
            <a:off x="10134600" y="361738"/>
            <a:ext cx="1209040" cy="18764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b="1" lang="en-US" sz="800">
                <a:solidFill>
                  <a:schemeClr val="lt1"/>
                </a:solidFill>
                <a:latin typeface="Times New Roman"/>
                <a:ea typeface="Times New Roman"/>
                <a:cs typeface="Times New Roman"/>
                <a:sym typeface="Times New Roman"/>
              </a:rPr>
              <a:t>aa</a:t>
            </a:r>
            <a:endParaRPr/>
          </a:p>
        </p:txBody>
      </p:sp>
      <p:sp>
        <p:nvSpPr>
          <p:cNvPr id="116" name="Google Shape;116;p4"/>
          <p:cNvSpPr txBox="1"/>
          <p:nvPr>
            <p:ph idx="1" type="body"/>
          </p:nvPr>
        </p:nvSpPr>
        <p:spPr>
          <a:xfrm>
            <a:off x="649288" y="1489075"/>
            <a:ext cx="10898187" cy="50038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t/>
            </a:r>
            <a:endParaRPr/>
          </a:p>
          <a:p>
            <a:pPr indent="-50800" lvl="0" marL="228600" rtl="0" algn="just">
              <a:lnSpc>
                <a:spcPct val="90000"/>
              </a:lnSpc>
              <a:spcBef>
                <a:spcPts val="1000"/>
              </a:spcBef>
              <a:spcAft>
                <a:spcPts val="0"/>
              </a:spcAft>
              <a:buClr>
                <a:schemeClr val="dk1"/>
              </a:buClr>
              <a:buSzPts val="2800"/>
              <a:buFont typeface="Arial"/>
              <a:buNone/>
            </a:pPr>
            <a:r>
              <a:t/>
            </a:r>
            <a:endParaRPr/>
          </a:p>
          <a:p>
            <a:pPr indent="-50800" lvl="0" marL="228600" rtl="0" algn="just">
              <a:lnSpc>
                <a:spcPct val="90000"/>
              </a:lnSpc>
              <a:spcBef>
                <a:spcPts val="1000"/>
              </a:spcBef>
              <a:spcAft>
                <a:spcPts val="0"/>
              </a:spcAft>
              <a:buClr>
                <a:schemeClr val="dk1"/>
              </a:buClr>
              <a:buSzPts val="2800"/>
              <a:buFont typeface="Arial"/>
              <a:buNone/>
            </a:pPr>
            <a:r>
              <a:t/>
            </a:r>
            <a:endParaRPr/>
          </a:p>
        </p:txBody>
      </p:sp>
      <p:sp>
        <p:nvSpPr>
          <p:cNvPr id="117" name="Google Shape;117;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18" name="Google Shape;118;p4"/>
          <p:cNvGraphicFramePr/>
          <p:nvPr/>
        </p:nvGraphicFramePr>
        <p:xfrm>
          <a:off x="0" y="0"/>
          <a:ext cx="3000000" cy="3000000"/>
        </p:xfrm>
        <a:graphic>
          <a:graphicData uri="http://schemas.openxmlformats.org/drawingml/2006/table">
            <a:tbl>
              <a:tblPr bandRow="1" firstRow="1">
                <a:noFill/>
                <a:tableStyleId>{04BAD9B0-5DEC-45F8-B0FA-E011A01DE7E9}</a:tableStyleId>
              </a:tblPr>
              <a:tblGrid>
                <a:gridCol w="762000"/>
                <a:gridCol w="2019300"/>
                <a:gridCol w="4699000"/>
                <a:gridCol w="4726975"/>
              </a:tblGrid>
              <a:tr h="368300">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S.No.</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Paper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Area of Focus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Findings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419350">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Lunt, Richard &amp; Bulovic, Vladimir. (2011). </a:t>
                      </a:r>
                      <a:r>
                        <a:rPr b="0" i="0" lang="en-US" sz="1400" u="none" strike="noStrike">
                          <a:solidFill>
                            <a:srgbClr val="000000"/>
                          </a:solidFill>
                          <a:latin typeface="Times New Roman"/>
                          <a:ea typeface="Times New Roman"/>
                          <a:cs typeface="Times New Roman"/>
                          <a:sym typeface="Times New Roman"/>
                        </a:rPr>
                        <a:t>Transparent, near-infrared organic photovoltaic solar cells for window and energy-scavenging applications.</a:t>
                      </a:r>
                      <a:r>
                        <a:rPr lang="en-US">
                          <a:solidFill>
                            <a:srgbClr val="000000"/>
                          </a:solidFill>
                          <a:latin typeface="Times New Roman"/>
                          <a:ea typeface="Times New Roman"/>
                          <a:cs typeface="Times New Roman"/>
                          <a:sym typeface="Times New Roman"/>
                        </a:rPr>
                        <a:t>(</a:t>
                      </a:r>
                      <a:r>
                        <a:rPr i="1" lang="en-US">
                          <a:latin typeface="Times New Roman"/>
                          <a:ea typeface="Times New Roman"/>
                          <a:cs typeface="Times New Roman"/>
                          <a:sym typeface="Times New Roman"/>
                        </a:rPr>
                        <a:t>Applied Physics Letters</a:t>
                      </a:r>
                      <a:r>
                        <a:rPr lang="en-US">
                          <a:latin typeface="Times New Roman"/>
                          <a:ea typeface="Times New Roman"/>
                          <a:cs typeface="Times New Roman"/>
                          <a:sym typeface="Times New Roman"/>
                        </a:rPr>
                        <a:t>, 2011)</a:t>
                      </a:r>
                      <a:endParaRPr>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400"/>
                        <a:buFont typeface="Calibri"/>
                        <a:buNone/>
                      </a:pPr>
                      <a:r>
                        <a:t/>
                      </a:r>
                      <a:endParaRPr sz="1400">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000000"/>
                        </a:buClr>
                        <a:buSzPts val="1400"/>
                        <a:buFont typeface="Times New Roman"/>
                        <a:buNone/>
                      </a:pPr>
                      <a:r>
                        <a:rPr b="0" i="0" lang="en-US" sz="1400" u="none" strike="noStrike">
                          <a:solidFill>
                            <a:srgbClr val="000000"/>
                          </a:solidFill>
                          <a:latin typeface="Times New Roman"/>
                          <a:ea typeface="Times New Roman"/>
                          <a:cs typeface="Times New Roman"/>
                          <a:sym typeface="Times New Roman"/>
                        </a:rPr>
                        <a:t>This paper focuses on transparent near-infrared organic photovoltaic (NIR-OPV) solar cells designed for use in windows and energy-scavenging applications. By selectively harvesting NIR light while transmitting visible light, the devices enable high transparency (&gt;65% AVT) with modest efficiencies. The research explores material design, electrode engineering, and optical coatings to balance transparency, efficiency, and integration potential.</a:t>
                      </a:r>
                      <a:endParaRPr sz="140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Technical findings: </a:t>
                      </a:r>
                      <a:r>
                        <a:rPr b="0" i="0" lang="en-US" sz="1400" u="none" strike="noStrike">
                          <a:solidFill>
                            <a:srgbClr val="000000"/>
                          </a:solidFill>
                          <a:latin typeface="Times New Roman"/>
                          <a:ea typeface="Times New Roman"/>
                          <a:cs typeface="Times New Roman"/>
                          <a:sym typeface="Times New Roman"/>
                        </a:rPr>
                        <a:t>*Transparent NIR-OPVs achieved &gt;65% average visible transmission with ~1.3% efficiency.</a:t>
                      </a:r>
                      <a:endParaRPr sz="14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Times New Roman"/>
                        <a:buNone/>
                      </a:pPr>
                      <a:r>
                        <a:rPr b="0" i="0" lang="en-US" sz="1400" u="none" strike="noStrike">
                          <a:solidFill>
                            <a:srgbClr val="000000"/>
                          </a:solidFill>
                          <a:latin typeface="Times New Roman"/>
                          <a:ea typeface="Times New Roman"/>
                          <a:cs typeface="Times New Roman"/>
                          <a:sym typeface="Times New Roman"/>
                        </a:rPr>
                        <a:t>*Using a NIR distributed-Bragg-reflector (DBR) mirror + antireflection coatings raised efficiency to ~1.7% while keeping AVT &gt;55%.</a:t>
                      </a:r>
                      <a:endParaRPr sz="14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Times New Roman"/>
                        <a:buNone/>
                      </a:pPr>
                      <a:r>
                        <a:rPr b="0" i="0" lang="en-US" sz="1400" u="none" strike="noStrike">
                          <a:solidFill>
                            <a:srgbClr val="000000"/>
                          </a:solidFill>
                          <a:latin typeface="Times New Roman"/>
                          <a:ea typeface="Times New Roman"/>
                          <a:cs typeface="Times New Roman"/>
                          <a:sym typeface="Times New Roman"/>
                        </a:rPr>
                        <a:t>*Opaque reference cells reached ~2.4% efficiency, showing trade-off between transparency and performance.</a:t>
                      </a:r>
                      <a:endParaRPr sz="14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Gaps/Findings relevant to our work:</a:t>
                      </a:r>
                      <a:endParaRPr sz="14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Times New Roman"/>
                        <a:buNone/>
                      </a:pPr>
                      <a:r>
                        <a:rPr b="0" i="0" lang="en-US" sz="1400" u="none" strike="noStrike">
                          <a:solidFill>
                            <a:srgbClr val="000000"/>
                          </a:solidFill>
                          <a:latin typeface="Times New Roman"/>
                          <a:ea typeface="Times New Roman"/>
                          <a:cs typeface="Times New Roman"/>
                          <a:sym typeface="Times New Roman"/>
                        </a:rPr>
                        <a:t>Efficiency remains low compared to opaque OPVs, with significant transparency–performance trade-offs.</a:t>
                      </a:r>
                      <a:endParaRPr sz="140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793600">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Hassan Gholami, Harald Nils Røstvik, Daniela Müller-Eie (2019),</a:t>
                      </a:r>
                      <a:r>
                        <a:rPr b="0" i="0" lang="en-US" sz="1400" u="none" strike="noStrike">
                          <a:solidFill>
                            <a:srgbClr val="000000"/>
                          </a:solidFill>
                          <a:latin typeface="Times New Roman"/>
                          <a:ea typeface="Times New Roman"/>
                          <a:cs typeface="Times New Roman"/>
                          <a:sym typeface="Times New Roman"/>
                        </a:rPr>
                        <a:t> </a:t>
                      </a:r>
                      <a:r>
                        <a:rPr b="0" i="1" lang="en-US" sz="1400" u="none" strike="noStrike">
                          <a:solidFill>
                            <a:srgbClr val="000000"/>
                          </a:solidFill>
                          <a:latin typeface="Times New Roman"/>
                          <a:ea typeface="Times New Roman"/>
                          <a:cs typeface="Times New Roman"/>
                          <a:sym typeface="Times New Roman"/>
                        </a:rPr>
                        <a:t>Holistic economic analysis of building integrated photovoltaics (BIPV) system</a:t>
                      </a:r>
                      <a:r>
                        <a:rPr i="1" lang="en-US" u="none" strike="noStrike">
                          <a:solidFill>
                            <a:srgbClr val="000000"/>
                          </a:solidFill>
                          <a:latin typeface="Times New Roman"/>
                          <a:ea typeface="Times New Roman"/>
                          <a:cs typeface="Times New Roman"/>
                          <a:sym typeface="Times New Roman"/>
                        </a:rPr>
                        <a:t>.(</a:t>
                      </a:r>
                      <a:r>
                        <a:rPr i="1" lang="en-US">
                          <a:latin typeface="Times New Roman"/>
                          <a:ea typeface="Times New Roman"/>
                          <a:cs typeface="Times New Roman"/>
                          <a:sym typeface="Times New Roman"/>
                        </a:rPr>
                        <a:t>Energy and Buildings</a:t>
                      </a:r>
                      <a:r>
                        <a:rPr lang="en-US">
                          <a:latin typeface="Times New Roman"/>
                          <a:ea typeface="Times New Roman"/>
                          <a:cs typeface="Times New Roman"/>
                          <a:sym typeface="Times New Roman"/>
                        </a:rPr>
                        <a:t>, 2019)</a:t>
                      </a:r>
                      <a:endParaRPr i="1" u="none" strike="noStrike">
                        <a:solidFill>
                          <a:srgbClr val="000000"/>
                        </a:solidFill>
                        <a:latin typeface="Times New Roman"/>
                        <a:ea typeface="Times New Roman"/>
                        <a:cs typeface="Times New Roman"/>
                        <a:sym typeface="Times New Roman"/>
                      </a:endParaRPr>
                    </a:p>
                    <a:p>
                      <a:pPr indent="0" lvl="0" marL="0" marR="0" rtl="0" algn="l">
                        <a:spcBef>
                          <a:spcPts val="0"/>
                        </a:spcBef>
                        <a:spcAft>
                          <a:spcPts val="0"/>
                        </a:spcAft>
                        <a:buClr>
                          <a:srgbClr val="000000"/>
                        </a:buClr>
                        <a:buSzPts val="1400"/>
                        <a:buFont typeface="Times New Roman"/>
                        <a:buNone/>
                      </a:pPr>
                      <a:r>
                        <a:t/>
                      </a:r>
                      <a:endParaRPr i="1">
                        <a:solidFill>
                          <a:srgbClr val="000000"/>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000000"/>
                        </a:buClr>
                        <a:buSzPts val="1400"/>
                        <a:buFont typeface="Times New Roman"/>
                        <a:buNone/>
                      </a:pPr>
                      <a:r>
                        <a:rPr b="0" i="0" lang="en-US" sz="1400" u="none" strike="noStrike">
                          <a:solidFill>
                            <a:srgbClr val="000000"/>
                          </a:solidFill>
                          <a:latin typeface="Times New Roman"/>
                          <a:ea typeface="Times New Roman"/>
                          <a:cs typeface="Times New Roman"/>
                          <a:sym typeface="Times New Roman"/>
                        </a:rPr>
                        <a:t>Economic feasibility of BIPV systems using </a:t>
                      </a:r>
                      <a:r>
                        <a:rPr b="1" i="0" lang="en-US" sz="1400" u="none" strike="noStrike">
                          <a:solidFill>
                            <a:srgbClr val="000000"/>
                          </a:solidFill>
                          <a:latin typeface="Times New Roman"/>
                          <a:ea typeface="Times New Roman"/>
                          <a:cs typeface="Times New Roman"/>
                          <a:sym typeface="Times New Roman"/>
                        </a:rPr>
                        <a:t>Lifecycle Cost Analysis (LCCA)</a:t>
                      </a:r>
                      <a:r>
                        <a:rPr b="0" i="0" lang="en-US" sz="1400" u="none" strike="noStrike">
                          <a:solidFill>
                            <a:srgbClr val="000000"/>
                          </a:solidFill>
                          <a:latin typeface="Times New Roman"/>
                          <a:ea typeface="Times New Roman"/>
                          <a:cs typeface="Times New Roman"/>
                          <a:sym typeface="Times New Roman"/>
                        </a:rPr>
                        <a:t>, </a:t>
                      </a:r>
                      <a:r>
                        <a:rPr b="1" i="0" lang="en-US" sz="1400" u="none" strike="noStrike">
                          <a:solidFill>
                            <a:srgbClr val="000000"/>
                          </a:solidFill>
                          <a:latin typeface="Times New Roman"/>
                          <a:ea typeface="Times New Roman"/>
                          <a:cs typeface="Times New Roman"/>
                          <a:sym typeface="Times New Roman"/>
                        </a:rPr>
                        <a:t>Net Present Value (NPV)</a:t>
                      </a:r>
                      <a:r>
                        <a:rPr b="0" i="0" lang="en-US" sz="1400" u="none" strike="noStrike">
                          <a:solidFill>
                            <a:srgbClr val="000000"/>
                          </a:solidFill>
                          <a:latin typeface="Times New Roman"/>
                          <a:ea typeface="Times New Roman"/>
                          <a:cs typeface="Times New Roman"/>
                          <a:sym typeface="Times New Roman"/>
                        </a:rPr>
                        <a:t>, and </a:t>
                      </a:r>
                      <a:r>
                        <a:rPr b="1" i="0" lang="en-US" sz="1400" u="none" strike="noStrike">
                          <a:solidFill>
                            <a:srgbClr val="000000"/>
                          </a:solidFill>
                          <a:latin typeface="Times New Roman"/>
                          <a:ea typeface="Times New Roman"/>
                          <a:cs typeface="Times New Roman"/>
                          <a:sym typeface="Times New Roman"/>
                        </a:rPr>
                        <a:t>Discounted Payback Period (DPP)</a:t>
                      </a:r>
                      <a:r>
                        <a:rPr b="0" i="0" lang="en-US" sz="1400" u="none" strike="noStrike">
                          <a:solidFill>
                            <a:srgbClr val="000000"/>
                          </a:solidFill>
                          <a:latin typeface="Times New Roman"/>
                          <a:ea typeface="Times New Roman"/>
                          <a:cs typeface="Times New Roman"/>
                          <a:sym typeface="Times New Roman"/>
                        </a:rPr>
                        <a:t>. Four case studies analyzed: Brazil, Italy, China, and Bahrain. The study introduced an innovative LCCA framework that incorporates </a:t>
                      </a:r>
                      <a:r>
                        <a:rPr b="1" i="0" lang="en-US" sz="1400" u="none" strike="noStrike">
                          <a:solidFill>
                            <a:srgbClr val="000000"/>
                          </a:solidFill>
                          <a:latin typeface="Times New Roman"/>
                          <a:ea typeface="Times New Roman"/>
                          <a:cs typeface="Times New Roman"/>
                          <a:sym typeface="Times New Roman"/>
                        </a:rPr>
                        <a:t>societal and environmental benefits</a:t>
                      </a:r>
                      <a:r>
                        <a:rPr b="0" i="0" lang="en-US" sz="1400" u="none" strike="noStrike">
                          <a:solidFill>
                            <a:srgbClr val="000000"/>
                          </a:solidFill>
                          <a:latin typeface="Times New Roman"/>
                          <a:ea typeface="Times New Roman"/>
                          <a:cs typeface="Times New Roman"/>
                          <a:sym typeface="Times New Roman"/>
                        </a:rPr>
                        <a:t> (carbon cost, transmission loss, delivery cost, equivalent building material cost) into economic analysis.</a:t>
                      </a:r>
                      <a:endParaRPr sz="1400">
                        <a:solidFill>
                          <a:srgbClr val="000000"/>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171450" lvl="0" marL="171450" marR="0" rtl="0" algn="l">
                        <a:lnSpc>
                          <a:spcPct val="100000"/>
                        </a:lnSpc>
                        <a:spcBef>
                          <a:spcPts val="0"/>
                        </a:spcBef>
                        <a:spcAft>
                          <a:spcPts val="0"/>
                        </a:spcAft>
                        <a:buClr>
                          <a:srgbClr val="000000"/>
                        </a:buClr>
                        <a:buSzPts val="1400"/>
                        <a:buFont typeface="Arial"/>
                        <a:buChar char="•"/>
                      </a:pPr>
                      <a:r>
                        <a:rPr b="0" i="0" lang="en-US" sz="1400" u="none" strike="noStrike">
                          <a:solidFill>
                            <a:srgbClr val="000000"/>
                          </a:solidFill>
                          <a:latin typeface="Times New Roman"/>
                          <a:ea typeface="Times New Roman"/>
                          <a:cs typeface="Times New Roman"/>
                          <a:sym typeface="Times New Roman"/>
                        </a:rPr>
                        <a:t>No cost data on manufacturing/transport/disposal of BIPV panels considered.</a:t>
                      </a:r>
                      <a:endParaRPr b="0" sz="1400">
                        <a:latin typeface="Times New Roman"/>
                        <a:ea typeface="Times New Roman"/>
                        <a:cs typeface="Times New Roman"/>
                        <a:sym typeface="Times New Roman"/>
                      </a:endParaRPr>
                    </a:p>
                    <a:p>
                      <a:pPr indent="-171450" lvl="0" marL="171450" marR="0" rtl="0" algn="l">
                        <a:lnSpc>
                          <a:spcPct val="100000"/>
                        </a:lnSpc>
                        <a:spcBef>
                          <a:spcPts val="0"/>
                        </a:spcBef>
                        <a:spcAft>
                          <a:spcPts val="0"/>
                        </a:spcAft>
                        <a:buClr>
                          <a:srgbClr val="000000"/>
                        </a:buClr>
                        <a:buSzPts val="1400"/>
                        <a:buFont typeface="Arial"/>
                        <a:buChar char="•"/>
                      </a:pPr>
                      <a:r>
                        <a:rPr b="0" i="0" lang="en-US" sz="1400" u="none" strike="noStrike">
                          <a:solidFill>
                            <a:srgbClr val="000000"/>
                          </a:solidFill>
                          <a:latin typeface="Times New Roman"/>
                          <a:ea typeface="Times New Roman"/>
                          <a:cs typeface="Times New Roman"/>
                          <a:sym typeface="Times New Roman"/>
                        </a:rPr>
                        <a:t>No analysis of financial risk/uncertainty (e.g., tariff fluctuations, policy changes) as payback and feasibility are strongly tied to. </a:t>
                      </a:r>
                      <a:endParaRPr b="0" sz="1400">
                        <a:latin typeface="Times New Roman"/>
                        <a:ea typeface="Times New Roman"/>
                        <a:cs typeface="Times New Roman"/>
                        <a:sym typeface="Times New Roman"/>
                      </a:endParaRPr>
                    </a:p>
                    <a:p>
                      <a:pPr indent="-171450" lvl="0" marL="171450" marR="0" rtl="0" algn="l">
                        <a:lnSpc>
                          <a:spcPct val="100000"/>
                        </a:lnSpc>
                        <a:spcBef>
                          <a:spcPts val="0"/>
                        </a:spcBef>
                        <a:spcAft>
                          <a:spcPts val="0"/>
                        </a:spcAft>
                        <a:buClr>
                          <a:srgbClr val="000000"/>
                        </a:buClr>
                        <a:buSzPts val="1400"/>
                        <a:buFont typeface="Arial"/>
                        <a:buChar char="•"/>
                      </a:pPr>
                      <a:r>
                        <a:rPr b="0" i="0" lang="en-US" sz="1400" u="none" strike="noStrike">
                          <a:solidFill>
                            <a:srgbClr val="000000"/>
                          </a:solidFill>
                          <a:latin typeface="Times New Roman"/>
                          <a:ea typeface="Times New Roman"/>
                          <a:cs typeface="Times New Roman"/>
                          <a:sym typeface="Times New Roman"/>
                        </a:rPr>
                        <a:t>Assumes fixed O&amp;M (1%/yr) and inverter replacement cycles, which may differ in real practice.</a:t>
                      </a:r>
                      <a:endParaRPr b="0" sz="140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006850">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Shirazi, A. M., Zomorodian, Z. S., &amp; Tahsildoost, M. (2019).</a:t>
                      </a:r>
                      <a:r>
                        <a:rPr b="0" i="0" lang="en-US" sz="1400" u="none" strike="noStrike">
                          <a:solidFill>
                            <a:srgbClr val="000000"/>
                          </a:solidFill>
                          <a:latin typeface="Times New Roman"/>
                          <a:ea typeface="Times New Roman"/>
                          <a:cs typeface="Times New Roman"/>
                          <a:sym typeface="Times New Roman"/>
                        </a:rPr>
                        <a:t> </a:t>
                      </a:r>
                      <a:r>
                        <a:rPr b="0" i="1" lang="en-US" sz="1400" u="none" strike="noStrike">
                          <a:solidFill>
                            <a:srgbClr val="000000"/>
                          </a:solidFill>
                          <a:latin typeface="Times New Roman"/>
                          <a:ea typeface="Times New Roman"/>
                          <a:cs typeface="Times New Roman"/>
                          <a:sym typeface="Times New Roman"/>
                        </a:rPr>
                        <a:t>Techno-economic BIPV evaluation method in urban areas</a:t>
                      </a:r>
                      <a:r>
                        <a:rPr i="1" lang="en-US" u="none" strike="noStrike">
                          <a:solidFill>
                            <a:srgbClr val="000000"/>
                          </a:solidFill>
                          <a:latin typeface="Times New Roman"/>
                          <a:ea typeface="Times New Roman"/>
                          <a:cs typeface="Times New Roman"/>
                          <a:sym typeface="Times New Roman"/>
                        </a:rPr>
                        <a:t>(</a:t>
                      </a:r>
                      <a:r>
                        <a:rPr i="1" lang="en-US">
                          <a:latin typeface="Times New Roman"/>
                          <a:ea typeface="Times New Roman"/>
                          <a:cs typeface="Times New Roman"/>
                          <a:sym typeface="Times New Roman"/>
                        </a:rPr>
                        <a:t>Renewable Energy</a:t>
                      </a:r>
                      <a:r>
                        <a:rPr lang="en-US">
                          <a:latin typeface="Times New Roman"/>
                          <a:ea typeface="Times New Roman"/>
                          <a:cs typeface="Times New Roman"/>
                          <a:sym typeface="Times New Roman"/>
                        </a:rPr>
                        <a:t>, 2019)</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000000"/>
                        </a:buClr>
                        <a:buSzPts val="1400"/>
                        <a:buFont typeface="Times New Roman"/>
                        <a:buNone/>
                      </a:pPr>
                      <a:r>
                        <a:rPr b="0" i="0" lang="en-US" sz="1400" u="none" strike="noStrike">
                          <a:solidFill>
                            <a:srgbClr val="000000"/>
                          </a:solidFill>
                          <a:latin typeface="Times New Roman"/>
                          <a:ea typeface="Times New Roman"/>
                          <a:cs typeface="Times New Roman"/>
                          <a:sym typeface="Times New Roman"/>
                        </a:rPr>
                        <a:t>Techno-economic tool that combines 3D urban models with solar simulations to identify optimal BIPV placement and tilt, while evaluating feasibility through NPV, IRR, LCOE, and payback periods.</a:t>
                      </a:r>
                      <a:endParaRPr sz="140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171450" lvl="0" marL="171450" marR="0" rtl="0" algn="l">
                        <a:lnSpc>
                          <a:spcPct val="100000"/>
                        </a:lnSpc>
                        <a:spcBef>
                          <a:spcPts val="0"/>
                        </a:spcBef>
                        <a:spcAft>
                          <a:spcPts val="0"/>
                        </a:spcAft>
                        <a:buClr>
                          <a:srgbClr val="000000"/>
                        </a:buClr>
                        <a:buSzPts val="1400"/>
                        <a:buFont typeface="Arial"/>
                        <a:buChar char="•"/>
                      </a:pPr>
                      <a:r>
                        <a:rPr b="0" i="0" lang="en-US" sz="1400" u="none" strike="noStrike">
                          <a:solidFill>
                            <a:srgbClr val="000000"/>
                          </a:solidFill>
                          <a:latin typeface="Times New Roman"/>
                          <a:ea typeface="Times New Roman"/>
                          <a:cs typeface="Times New Roman"/>
                          <a:sym typeface="Times New Roman"/>
                        </a:rPr>
                        <a:t>Carbon reduction: Rooftops gave the highest CO₂ savings (~160 kg/panel), while façades still offered useful reductions despite lower efficiency.</a:t>
                      </a:r>
                      <a:endParaRPr b="0" sz="1400">
                        <a:latin typeface="Times New Roman"/>
                        <a:ea typeface="Times New Roman"/>
                        <a:cs typeface="Times New Roman"/>
                        <a:sym typeface="Times New Roman"/>
                      </a:endParaRPr>
                    </a:p>
                    <a:p>
                      <a:pPr indent="-171450" lvl="0" marL="171450" marR="0" rtl="0" algn="l">
                        <a:lnSpc>
                          <a:spcPct val="100000"/>
                        </a:lnSpc>
                        <a:spcBef>
                          <a:spcPts val="0"/>
                        </a:spcBef>
                        <a:spcAft>
                          <a:spcPts val="0"/>
                        </a:spcAft>
                        <a:buClr>
                          <a:srgbClr val="000000"/>
                        </a:buClr>
                        <a:buSzPts val="1400"/>
                        <a:buFont typeface="Arial"/>
                        <a:buChar char="•"/>
                      </a:pPr>
                      <a:r>
                        <a:rPr b="0" i="0" lang="en-US" sz="1400" u="none" strike="noStrike">
                          <a:solidFill>
                            <a:srgbClr val="000000"/>
                          </a:solidFill>
                          <a:latin typeface="Times New Roman"/>
                          <a:ea typeface="Times New Roman"/>
                          <a:cs typeface="Times New Roman"/>
                          <a:sym typeface="Times New Roman"/>
                        </a:rPr>
                        <a:t>Lifecycle costs missing: Inverter replacement, disposal, and salvage value are not considered, making cost estimates less realistic.</a:t>
                      </a:r>
                      <a:endParaRPr b="0" sz="1400">
                        <a:latin typeface="Times New Roman"/>
                        <a:ea typeface="Times New Roman"/>
                        <a:cs typeface="Times New Roman"/>
                        <a:sym typeface="Times New Roman"/>
                      </a:endParaRPr>
                    </a:p>
                    <a:p>
                      <a:pPr indent="-171450" lvl="0" marL="171450" marR="0" rtl="0" algn="l">
                        <a:lnSpc>
                          <a:spcPct val="100000"/>
                        </a:lnSpc>
                        <a:spcBef>
                          <a:spcPts val="0"/>
                        </a:spcBef>
                        <a:spcAft>
                          <a:spcPts val="0"/>
                        </a:spcAft>
                        <a:buClr>
                          <a:srgbClr val="000000"/>
                        </a:buClr>
                        <a:buSzPts val="1400"/>
                        <a:buFont typeface="Arial"/>
                        <a:buChar char="•"/>
                      </a:pPr>
                      <a:r>
                        <a:rPr b="0" i="0" lang="en-US" sz="1400" u="none" strike="noStrike">
                          <a:solidFill>
                            <a:srgbClr val="000000"/>
                          </a:solidFill>
                          <a:latin typeface="Times New Roman"/>
                          <a:ea typeface="Times New Roman"/>
                          <a:cs typeface="Times New Roman"/>
                          <a:sym typeface="Times New Roman"/>
                        </a:rPr>
                        <a:t>CO₂ savings are calculated per PV strategy, but carbon reductions are not given any economic value.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txBox="1"/>
          <p:nvPr>
            <p:ph type="title"/>
          </p:nvPr>
        </p:nvSpPr>
        <p:spPr>
          <a:xfrm>
            <a:off x="10134600" y="361738"/>
            <a:ext cx="1209040" cy="18764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b="1" lang="en-US" sz="800">
                <a:solidFill>
                  <a:schemeClr val="lt1"/>
                </a:solidFill>
                <a:latin typeface="Times New Roman"/>
                <a:ea typeface="Times New Roman"/>
                <a:cs typeface="Times New Roman"/>
                <a:sym typeface="Times New Roman"/>
              </a:rPr>
              <a:t>aa</a:t>
            </a:r>
            <a:endParaRPr/>
          </a:p>
        </p:txBody>
      </p:sp>
      <p:sp>
        <p:nvSpPr>
          <p:cNvPr id="124" name="Google Shape;124;p5"/>
          <p:cNvSpPr txBox="1"/>
          <p:nvPr>
            <p:ph idx="1" type="body"/>
          </p:nvPr>
        </p:nvSpPr>
        <p:spPr>
          <a:xfrm>
            <a:off x="649288" y="1489075"/>
            <a:ext cx="10898187" cy="50038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t/>
            </a:r>
            <a:endParaRPr/>
          </a:p>
          <a:p>
            <a:pPr indent="-50800" lvl="0" marL="228600" rtl="0" algn="just">
              <a:lnSpc>
                <a:spcPct val="90000"/>
              </a:lnSpc>
              <a:spcBef>
                <a:spcPts val="1000"/>
              </a:spcBef>
              <a:spcAft>
                <a:spcPts val="0"/>
              </a:spcAft>
              <a:buClr>
                <a:schemeClr val="dk1"/>
              </a:buClr>
              <a:buSzPts val="2800"/>
              <a:buFont typeface="Arial"/>
              <a:buNone/>
            </a:pPr>
            <a:r>
              <a:t/>
            </a:r>
            <a:endParaRPr/>
          </a:p>
          <a:p>
            <a:pPr indent="-50800" lvl="0" marL="228600" rtl="0" algn="just">
              <a:lnSpc>
                <a:spcPct val="90000"/>
              </a:lnSpc>
              <a:spcBef>
                <a:spcPts val="1000"/>
              </a:spcBef>
              <a:spcAft>
                <a:spcPts val="0"/>
              </a:spcAft>
              <a:buClr>
                <a:schemeClr val="dk1"/>
              </a:buClr>
              <a:buSzPts val="2800"/>
              <a:buFont typeface="Arial"/>
              <a:buNone/>
            </a:pPr>
            <a:r>
              <a:t/>
            </a:r>
            <a:endParaRPr/>
          </a:p>
        </p:txBody>
      </p:sp>
      <p:sp>
        <p:nvSpPr>
          <p:cNvPr id="125" name="Google Shape;12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26" name="Google Shape;126;p5"/>
          <p:cNvGraphicFramePr/>
          <p:nvPr/>
        </p:nvGraphicFramePr>
        <p:xfrm>
          <a:off x="0" y="0"/>
          <a:ext cx="3000000" cy="3000000"/>
        </p:xfrm>
        <a:graphic>
          <a:graphicData uri="http://schemas.openxmlformats.org/drawingml/2006/table">
            <a:tbl>
              <a:tblPr bandRow="1" firstRow="1">
                <a:noFill/>
                <a:tableStyleId>{04BAD9B0-5DEC-45F8-B0FA-E011A01DE7E9}</a:tableStyleId>
              </a:tblPr>
              <a:tblGrid>
                <a:gridCol w="762000"/>
                <a:gridCol w="2019300"/>
                <a:gridCol w="4699000"/>
                <a:gridCol w="4726975"/>
              </a:tblGrid>
              <a:tr h="368300">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S.No.</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Paper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Area of Focus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Findings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895600">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Wenbo Gu, Tao Ma, Salman Ahmed, Yijie Zhang, Jinqing Peng </a:t>
                      </a:r>
                      <a:r>
                        <a:rPr b="0" i="0" lang="en-US" sz="1400" u="none" strike="noStrike">
                          <a:solidFill>
                            <a:srgbClr val="000000"/>
                          </a:solidFill>
                          <a:latin typeface="Times New Roman"/>
                          <a:ea typeface="Times New Roman"/>
                          <a:cs typeface="Times New Roman"/>
                          <a:sym typeface="Times New Roman"/>
                        </a:rPr>
                        <a:t>— </a:t>
                      </a:r>
                      <a:r>
                        <a:rPr b="0" i="1" lang="en-US" sz="1400" u="none" strike="noStrike">
                          <a:solidFill>
                            <a:srgbClr val="000000"/>
                          </a:solidFill>
                          <a:latin typeface="Times New Roman"/>
                          <a:ea typeface="Times New Roman"/>
                          <a:cs typeface="Times New Roman"/>
                          <a:sym typeface="Times New Roman"/>
                        </a:rPr>
                        <a:t>A comprehensive review and outlook of bifacial photovoltaic (bPV) technology</a:t>
                      </a:r>
                      <a:r>
                        <a:rPr i="1" lang="en-US">
                          <a:solidFill>
                            <a:srgbClr val="000000"/>
                          </a:solidFill>
                          <a:latin typeface="Times New Roman"/>
                          <a:ea typeface="Times New Roman"/>
                          <a:cs typeface="Times New Roman"/>
                          <a:sym typeface="Times New Roman"/>
                        </a:rPr>
                        <a:t>.(</a:t>
                      </a:r>
                      <a:r>
                        <a:rPr i="1" lang="en-US">
                          <a:latin typeface="Times New Roman"/>
                          <a:ea typeface="Times New Roman"/>
                          <a:cs typeface="Times New Roman"/>
                          <a:sym typeface="Times New Roman"/>
                        </a:rPr>
                        <a:t>Energy Conversion and Management</a:t>
                      </a:r>
                      <a:r>
                        <a:rPr lang="en-US">
                          <a:latin typeface="Times New Roman"/>
                          <a:ea typeface="Times New Roman"/>
                          <a:cs typeface="Times New Roman"/>
                          <a:sym typeface="Times New Roman"/>
                        </a:rPr>
                        <a:t>, 2020)</a:t>
                      </a:r>
                      <a:endParaRPr>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400"/>
                        <a:buFont typeface="Calibri"/>
                        <a:buNone/>
                      </a:pPr>
                      <a:r>
                        <a:t/>
                      </a:r>
                      <a:endParaRPr sz="1400">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000000"/>
                        </a:buClr>
                        <a:buSzPts val="1400"/>
                        <a:buFont typeface="Times New Roman"/>
                        <a:buNone/>
                      </a:pPr>
                      <a:r>
                        <a:rPr b="0" i="0" lang="en-US" sz="1400" u="none" strike="noStrike">
                          <a:solidFill>
                            <a:srgbClr val="000000"/>
                          </a:solidFill>
                          <a:latin typeface="Times New Roman"/>
                          <a:ea typeface="Times New Roman"/>
                          <a:cs typeface="Times New Roman"/>
                          <a:sym typeface="Times New Roman"/>
                        </a:rPr>
                        <a:t>This paper focuses on bifacial photovoltaic (bPV) technology, reviewing its principles, performance benefits, and influencing factors compared to monofacial PV. It examines modeling approaches, experimental field results, optical/electrical/thermal loss mechanisms, and design parameters such as albedo, tilt, and module elevation. The study emphasizes performance prediction, optimization, and future development needs for widespread bPV adoption</a:t>
                      </a:r>
                      <a:endParaRPr sz="140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Technical findings:</a:t>
                      </a:r>
                      <a:br>
                        <a:rPr b="0" i="1" lang="en-US" sz="1400" u="none" strike="noStrike">
                          <a:solidFill>
                            <a:srgbClr val="000000"/>
                          </a:solidFill>
                          <a:latin typeface="Times New Roman"/>
                          <a:ea typeface="Times New Roman"/>
                          <a:cs typeface="Times New Roman"/>
                          <a:sym typeface="Times New Roman"/>
                        </a:rPr>
                      </a:br>
                      <a:r>
                        <a:rPr b="0" i="1" lang="en-US" sz="1400" u="none" strike="noStrike">
                          <a:solidFill>
                            <a:srgbClr val="000000"/>
                          </a:solidFill>
                          <a:latin typeface="Times New Roman"/>
                          <a:ea typeface="Times New Roman"/>
                          <a:cs typeface="Times New Roman"/>
                          <a:sym typeface="Times New Roman"/>
                        </a:rPr>
                        <a:t> *</a:t>
                      </a:r>
                      <a:r>
                        <a:rPr b="0" i="0" lang="en-US" sz="1400" u="none" strike="noStrike">
                          <a:solidFill>
                            <a:srgbClr val="000000"/>
                          </a:solidFill>
                          <a:latin typeface="Times New Roman"/>
                          <a:ea typeface="Times New Roman"/>
                          <a:cs typeface="Times New Roman"/>
                          <a:sym typeface="Times New Roman"/>
                        </a:rPr>
                        <a:t>Modeling approaches (ray-tracing, view factor, and empirical) predict bifacial gains with &lt;2% error under controlled setups.</a:t>
                      </a:r>
                      <a:br>
                        <a:rPr b="0" i="0" lang="en-US" sz="1400" u="none" strike="noStrike">
                          <a:solidFill>
                            <a:srgbClr val="000000"/>
                          </a:solidFill>
                          <a:latin typeface="Times New Roman"/>
                          <a:ea typeface="Times New Roman"/>
                          <a:cs typeface="Times New Roman"/>
                          <a:sym typeface="Times New Roman"/>
                        </a:rPr>
                      </a:br>
                      <a:r>
                        <a:rPr b="0" i="0" lang="en-US" sz="1400" u="none" strike="noStrike">
                          <a:solidFill>
                            <a:srgbClr val="000000"/>
                          </a:solidFill>
                          <a:latin typeface="Times New Roman"/>
                          <a:ea typeface="Times New Roman"/>
                          <a:cs typeface="Times New Roman"/>
                          <a:sym typeface="Times New Roman"/>
                        </a:rPr>
                        <a:t> *Rear irradiance nonuniformity and mismatch losses are significant in large arrays.</a:t>
                      </a:r>
                      <a:br>
                        <a:rPr b="0" i="0" lang="en-US" sz="1400" u="none" strike="noStrike">
                          <a:solidFill>
                            <a:srgbClr val="000000"/>
                          </a:solidFill>
                          <a:latin typeface="Times New Roman"/>
                          <a:ea typeface="Times New Roman"/>
                          <a:cs typeface="Times New Roman"/>
                          <a:sym typeface="Times New Roman"/>
                        </a:rPr>
                      </a:br>
                      <a:r>
                        <a:rPr b="0" i="0" lang="en-US" sz="1400" u="none" strike="noStrike">
                          <a:solidFill>
                            <a:srgbClr val="000000"/>
                          </a:solidFill>
                          <a:latin typeface="Times New Roman"/>
                          <a:ea typeface="Times New Roman"/>
                          <a:cs typeface="Times New Roman"/>
                          <a:sym typeface="Times New Roman"/>
                        </a:rPr>
                        <a:t> *Optical, electrical, and thermal losses (reflection, resistance, shading) influence actual field performance.</a:t>
                      </a:r>
                      <a:endParaRPr i="0" sz="14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Gaps/Findings relevant to our work:</a:t>
                      </a:r>
                      <a:br>
                        <a:rPr b="1" i="0" lang="en-US" sz="1400" u="none" strike="noStrike">
                          <a:solidFill>
                            <a:srgbClr val="000000"/>
                          </a:solidFill>
                          <a:latin typeface="Times New Roman"/>
                          <a:ea typeface="Times New Roman"/>
                          <a:cs typeface="Times New Roman"/>
                          <a:sym typeface="Times New Roman"/>
                        </a:rPr>
                      </a:br>
                      <a:r>
                        <a:rPr b="1" i="0" lang="en-US" sz="1400" u="none" strike="noStrike">
                          <a:solidFill>
                            <a:srgbClr val="000000"/>
                          </a:solidFill>
                          <a:latin typeface="Times New Roman"/>
                          <a:ea typeface="Times New Roman"/>
                          <a:cs typeface="Times New Roman"/>
                          <a:sym typeface="Times New Roman"/>
                        </a:rPr>
                        <a:t> </a:t>
                      </a:r>
                      <a:r>
                        <a:rPr b="0" i="0" lang="en-US" sz="1400" u="none" strike="noStrike">
                          <a:solidFill>
                            <a:srgbClr val="000000"/>
                          </a:solidFill>
                          <a:latin typeface="Times New Roman"/>
                          <a:ea typeface="Times New Roman"/>
                          <a:cs typeface="Times New Roman"/>
                          <a:sym typeface="Times New Roman"/>
                        </a:rPr>
                        <a:t>Field data across diverse climates and real installation geometries are still limited. Rear-side mismatch and nonuniform shading effects lack robust mitigation strategies. </a:t>
                      </a:r>
                      <a:endParaRPr i="0" sz="140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793600">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K. Lee, J.-H. Park, Y. Cho, et al. </a:t>
                      </a:r>
                      <a:r>
                        <a:rPr b="0" i="0" lang="en-US" sz="1400" u="none" strike="noStrike">
                          <a:solidFill>
                            <a:srgbClr val="000000"/>
                          </a:solidFill>
                          <a:latin typeface="Times New Roman"/>
                          <a:ea typeface="Times New Roman"/>
                          <a:cs typeface="Times New Roman"/>
                          <a:sym typeface="Times New Roman"/>
                        </a:rPr>
                        <a:t>— </a:t>
                      </a:r>
                      <a:r>
                        <a:rPr b="0" i="1" lang="en-US" sz="1400" u="none" strike="noStrike">
                          <a:solidFill>
                            <a:srgbClr val="000000"/>
                          </a:solidFill>
                          <a:latin typeface="Times New Roman"/>
                          <a:ea typeface="Times New Roman"/>
                          <a:cs typeface="Times New Roman"/>
                          <a:sym typeface="Times New Roman"/>
                        </a:rPr>
                        <a:t>The Development of Transparent Photovoltaics</a:t>
                      </a:r>
                      <a:r>
                        <a:rPr i="1" lang="en-US" u="none" strike="noStrike">
                          <a:solidFill>
                            <a:srgbClr val="000000"/>
                          </a:solidFill>
                          <a:latin typeface="Times New Roman"/>
                          <a:ea typeface="Times New Roman"/>
                          <a:cs typeface="Times New Roman"/>
                          <a:sym typeface="Times New Roman"/>
                        </a:rPr>
                        <a:t>(</a:t>
                      </a:r>
                      <a:r>
                        <a:rPr i="1" lang="en-US">
                          <a:latin typeface="Times New Roman"/>
                          <a:ea typeface="Times New Roman"/>
                          <a:cs typeface="Times New Roman"/>
                          <a:sym typeface="Times New Roman"/>
                        </a:rPr>
                        <a:t>Cell Reports Physical Science</a:t>
                      </a:r>
                      <a:r>
                        <a:rPr lang="en-US">
                          <a:latin typeface="Times New Roman"/>
                          <a:ea typeface="Times New Roman"/>
                          <a:cs typeface="Times New Roman"/>
                          <a:sym typeface="Times New Roman"/>
                        </a:rPr>
                        <a:t>, 2020)</a:t>
                      </a:r>
                      <a:endParaRPr>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000000"/>
                        </a:buClr>
                        <a:buSzPts val="1400"/>
                        <a:buFont typeface="Times New Roman"/>
                        <a:buNone/>
                      </a:pPr>
                      <a:r>
                        <a:rPr b="0" i="0" lang="en-US" sz="1400" u="none" strike="noStrike">
                          <a:solidFill>
                            <a:srgbClr val="000000"/>
                          </a:solidFill>
                          <a:latin typeface="Times New Roman"/>
                          <a:ea typeface="Times New Roman"/>
                          <a:cs typeface="Times New Roman"/>
                          <a:sym typeface="Times New Roman"/>
                        </a:rPr>
                        <a:t>This review paper surveys recent developments in transparent photovoltaics (TPVs), with emphasis on methods that impart transparency to conventional solar cells. It covers material innovations, device architectures, optical management strategies, and performance metrics, aiming to chart the path from laboratory prototypes toward viable, large-area transparent solar modules for windows, façades, and integrated surfaces.</a:t>
                      </a:r>
                      <a:endParaRPr sz="140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Technical findings: *</a:t>
                      </a:r>
                      <a:r>
                        <a:rPr b="0" i="0" lang="en-US" sz="1400" u="none" strike="noStrike">
                          <a:solidFill>
                            <a:srgbClr val="000000"/>
                          </a:solidFill>
                          <a:latin typeface="Times New Roman"/>
                          <a:ea typeface="Times New Roman"/>
                          <a:cs typeface="Times New Roman"/>
                          <a:sym typeface="Times New Roman"/>
                        </a:rPr>
                        <a:t>Various transparent PV technologies (organic, perovskite, dye-sensitized, QD-based) demonstrate power conversion efficiencies ranging from ~2% to 12% while maintaining visible light transmittance of 20–70%.</a:t>
                      </a:r>
                      <a:endParaRPr sz="14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Times New Roman"/>
                        <a:buNone/>
                      </a:pPr>
                      <a:r>
                        <a:rPr b="0" i="0" lang="en-US" sz="1400" u="none" strike="noStrike">
                          <a:solidFill>
                            <a:srgbClr val="000000"/>
                          </a:solidFill>
                          <a:latin typeface="Times New Roman"/>
                          <a:ea typeface="Times New Roman"/>
                          <a:cs typeface="Times New Roman"/>
                          <a:sym typeface="Times New Roman"/>
                        </a:rPr>
                        <a:t>*Trade-off exists between optical transparency and electrical efficiency, requiring careful optimization of materials and device architectures.</a:t>
                      </a:r>
                      <a:endParaRPr sz="14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Gaps/Findings relevant to our work: </a:t>
                      </a:r>
                      <a:r>
                        <a:rPr b="0" i="0" lang="en-US" sz="1400" u="none" strike="noStrike">
                          <a:solidFill>
                            <a:srgbClr val="000000"/>
                          </a:solidFill>
                          <a:latin typeface="Times New Roman"/>
                          <a:ea typeface="Times New Roman"/>
                          <a:cs typeface="Times New Roman"/>
                          <a:sym typeface="Times New Roman"/>
                        </a:rPr>
                        <a:t>Long-term stability and large-scale manufacturability of transparent PV remain underdeveloped. Economic analysis and lifecycle assessment are limited, making ROI and practical adoption uncertain. </a:t>
                      </a:r>
                      <a:endParaRPr sz="140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006850">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400"/>
                        <a:buFont typeface="Times New Roman"/>
                        <a:buNone/>
                      </a:pPr>
                      <a:r>
                        <a:rPr b="1" i="0" lang="en-US" sz="1400" u="none" strike="noStrike">
                          <a:latin typeface="Times New Roman"/>
                          <a:ea typeface="Times New Roman"/>
                          <a:cs typeface="Times New Roman"/>
                          <a:sym typeface="Times New Roman"/>
                        </a:rPr>
                        <a:t>A. Al-Waeli, K. Sopian, M.Y. Sulaiman, H.A. Kazem, M.T. Chaichan</a:t>
                      </a:r>
                      <a:r>
                        <a:rPr b="0" i="0" lang="en-US" sz="1400" u="none" strike="noStrike">
                          <a:latin typeface="Times New Roman"/>
                          <a:ea typeface="Times New Roman"/>
                          <a:cs typeface="Times New Roman"/>
                          <a:sym typeface="Times New Roman"/>
                        </a:rPr>
                        <a:t> — Photovoltaic solar thermal (PV/T) systems: Status and future prospects</a:t>
                      </a:r>
                      <a:r>
                        <a:rPr i="0" lang="en-US" u="none" strike="noStrike">
                          <a:latin typeface="Times New Roman"/>
                          <a:ea typeface="Times New Roman"/>
                          <a:cs typeface="Times New Roman"/>
                          <a:sym typeface="Times New Roman"/>
                        </a:rPr>
                        <a:t>.(</a:t>
                      </a:r>
                      <a:r>
                        <a:rPr i="1" lang="en-US">
                          <a:latin typeface="Times New Roman"/>
                          <a:ea typeface="Times New Roman"/>
                          <a:cs typeface="Times New Roman"/>
                          <a:sym typeface="Times New Roman"/>
                        </a:rPr>
                        <a:t>Renewable and Sustainable Energy Reviews</a:t>
                      </a:r>
                      <a:r>
                        <a:rPr lang="en-US">
                          <a:latin typeface="Times New Roman"/>
                          <a:ea typeface="Times New Roman"/>
                          <a:cs typeface="Times New Roman"/>
                          <a:sym typeface="Times New Roman"/>
                        </a:rPr>
                        <a:t>, 2017)</a:t>
                      </a:r>
                      <a:endParaRPr>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000000"/>
                        </a:buClr>
                        <a:buSzPts val="1400"/>
                        <a:buFont typeface="Times New Roman"/>
                        <a:buNone/>
                      </a:pPr>
                      <a:r>
                        <a:rPr b="0" i="0" lang="en-US" sz="1400" u="none" strike="noStrike">
                          <a:solidFill>
                            <a:srgbClr val="000000"/>
                          </a:solidFill>
                          <a:latin typeface="Times New Roman"/>
                          <a:ea typeface="Times New Roman"/>
                          <a:cs typeface="Times New Roman"/>
                          <a:sym typeface="Times New Roman"/>
                        </a:rPr>
                        <a:t>This paper reviews the current status and future prospects of photovoltaic/thermal (PV/T) systems, which simultaneously generate electricity and utilize thermal energy. It explores system designs, performance parameters, cooling techniques, and hybrid configurations. The review emphasizes improving overall efficiency, reducing operating temperature, and addressing practical challenges for integrating PV/T into renewable energy applications.</a:t>
                      </a:r>
                      <a:endParaRPr sz="140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Technical findings: *</a:t>
                      </a:r>
                      <a:r>
                        <a:rPr b="0" i="0" lang="en-US" sz="1400" u="none" strike="noStrike">
                          <a:solidFill>
                            <a:srgbClr val="000000"/>
                          </a:solidFill>
                          <a:latin typeface="Times New Roman"/>
                          <a:ea typeface="Times New Roman"/>
                          <a:cs typeface="Times New Roman"/>
                          <a:sym typeface="Times New Roman"/>
                        </a:rPr>
                        <a:t>PV/T systems improve overall efficiency by combining electricity and heat generation.</a:t>
                      </a:r>
                      <a:endParaRPr sz="14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Times New Roman"/>
                        <a:buNone/>
                      </a:pPr>
                      <a:r>
                        <a:rPr b="0" i="0" lang="en-US" sz="1400" u="none" strike="noStrike">
                          <a:solidFill>
                            <a:srgbClr val="000000"/>
                          </a:solidFill>
                          <a:latin typeface="Times New Roman"/>
                          <a:ea typeface="Times New Roman"/>
                          <a:cs typeface="Times New Roman"/>
                          <a:sym typeface="Times New Roman"/>
                        </a:rPr>
                        <a:t>*Water and nanofluid cooling enhance electrical performance more than air cooling.</a:t>
                      </a:r>
                      <a:endParaRPr sz="14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Gaps/Findings relevant to our work:</a:t>
                      </a:r>
                      <a:endParaRPr sz="14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Times New Roman"/>
                        <a:buNone/>
                      </a:pPr>
                      <a:r>
                        <a:rPr b="0" i="0" lang="en-US" sz="1400" u="none" strike="noStrike">
                          <a:solidFill>
                            <a:srgbClr val="000000"/>
                          </a:solidFill>
                          <a:latin typeface="Times New Roman"/>
                          <a:ea typeface="Times New Roman"/>
                          <a:cs typeface="Times New Roman"/>
                          <a:sym typeface="Times New Roman"/>
                        </a:rPr>
                        <a:t>Long-term durability of advanced cooling methods is unproven. Limited economic and lifecycle assessments hinder large-scale adoption. Scaling and maintenance in building applications remain challenging. </a:t>
                      </a:r>
                      <a:endParaRPr b="0" i="0" sz="1400" u="none" strike="noStrike">
                        <a:solidFill>
                          <a:srgbClr val="000000"/>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6"/>
          <p:cNvSpPr txBox="1"/>
          <p:nvPr>
            <p:ph type="title"/>
          </p:nvPr>
        </p:nvSpPr>
        <p:spPr>
          <a:xfrm>
            <a:off x="10134600" y="361738"/>
            <a:ext cx="1209040" cy="18764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b="1" lang="en-US" sz="800">
                <a:solidFill>
                  <a:schemeClr val="lt1"/>
                </a:solidFill>
                <a:latin typeface="Times New Roman"/>
                <a:ea typeface="Times New Roman"/>
                <a:cs typeface="Times New Roman"/>
                <a:sym typeface="Times New Roman"/>
              </a:rPr>
              <a:t>aa</a:t>
            </a:r>
            <a:endParaRPr/>
          </a:p>
        </p:txBody>
      </p:sp>
      <p:sp>
        <p:nvSpPr>
          <p:cNvPr id="132" name="Google Shape;132;p6"/>
          <p:cNvSpPr txBox="1"/>
          <p:nvPr>
            <p:ph idx="1" type="body"/>
          </p:nvPr>
        </p:nvSpPr>
        <p:spPr>
          <a:xfrm>
            <a:off x="649288" y="1489075"/>
            <a:ext cx="10898187" cy="50038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t/>
            </a:r>
            <a:endParaRPr/>
          </a:p>
          <a:p>
            <a:pPr indent="-50800" lvl="0" marL="228600" rtl="0" algn="just">
              <a:lnSpc>
                <a:spcPct val="90000"/>
              </a:lnSpc>
              <a:spcBef>
                <a:spcPts val="1000"/>
              </a:spcBef>
              <a:spcAft>
                <a:spcPts val="0"/>
              </a:spcAft>
              <a:buClr>
                <a:schemeClr val="dk1"/>
              </a:buClr>
              <a:buSzPts val="2800"/>
              <a:buFont typeface="Arial"/>
              <a:buNone/>
            </a:pPr>
            <a:r>
              <a:t/>
            </a:r>
            <a:endParaRPr/>
          </a:p>
          <a:p>
            <a:pPr indent="-50800" lvl="0" marL="228600" rtl="0" algn="just">
              <a:lnSpc>
                <a:spcPct val="90000"/>
              </a:lnSpc>
              <a:spcBef>
                <a:spcPts val="1000"/>
              </a:spcBef>
              <a:spcAft>
                <a:spcPts val="0"/>
              </a:spcAft>
              <a:buClr>
                <a:schemeClr val="dk1"/>
              </a:buClr>
              <a:buSzPts val="2800"/>
              <a:buFont typeface="Arial"/>
              <a:buNone/>
            </a:pPr>
            <a:r>
              <a:t/>
            </a:r>
            <a:endParaRPr/>
          </a:p>
        </p:txBody>
      </p:sp>
      <p:sp>
        <p:nvSpPr>
          <p:cNvPr id="133" name="Google Shape;13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34" name="Google Shape;134;p6"/>
          <p:cNvGraphicFramePr/>
          <p:nvPr/>
        </p:nvGraphicFramePr>
        <p:xfrm>
          <a:off x="0" y="0"/>
          <a:ext cx="3000000" cy="3000000"/>
        </p:xfrm>
        <a:graphic>
          <a:graphicData uri="http://schemas.openxmlformats.org/drawingml/2006/table">
            <a:tbl>
              <a:tblPr bandRow="1" firstRow="1">
                <a:noFill/>
                <a:tableStyleId>{04BAD9B0-5DEC-45F8-B0FA-E011A01DE7E9}</a:tableStyleId>
              </a:tblPr>
              <a:tblGrid>
                <a:gridCol w="762000"/>
                <a:gridCol w="2019300"/>
                <a:gridCol w="4699000"/>
                <a:gridCol w="4726975"/>
              </a:tblGrid>
              <a:tr h="368300">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S.No.</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Paper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Area of Focus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Findings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600200">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Yakubu et al. (2024). </a:t>
                      </a:r>
                      <a:r>
                        <a:rPr b="0" i="0" lang="en-US" sz="1400" u="none" strike="noStrike">
                          <a:solidFill>
                            <a:srgbClr val="000000"/>
                          </a:solidFill>
                          <a:latin typeface="Times New Roman"/>
                          <a:ea typeface="Times New Roman"/>
                          <a:cs typeface="Times New Roman"/>
                          <a:sym typeface="Times New Roman"/>
                        </a:rPr>
                        <a:t>A systematic literature review of the bifacial photovoltaic module and its applications . </a:t>
                      </a:r>
                      <a:r>
                        <a:rPr lang="en-US">
                          <a:latin typeface="Times New Roman"/>
                          <a:ea typeface="Times New Roman"/>
                          <a:cs typeface="Times New Roman"/>
                          <a:sym typeface="Times New Roman"/>
                        </a:rPr>
                        <a:t>(</a:t>
                      </a:r>
                      <a:r>
                        <a:rPr i="1" lang="en-US">
                          <a:latin typeface="Times New Roman"/>
                          <a:ea typeface="Times New Roman"/>
                          <a:cs typeface="Times New Roman"/>
                          <a:sym typeface="Times New Roman"/>
                        </a:rPr>
                        <a:t>The Journal of Engineering</a:t>
                      </a:r>
                      <a:r>
                        <a:rPr lang="en-US">
                          <a:latin typeface="Times New Roman"/>
                          <a:ea typeface="Times New Roman"/>
                          <a:cs typeface="Times New Roman"/>
                          <a:sym typeface="Times New Roman"/>
                        </a:rPr>
                        <a:t>, 2024)</a:t>
                      </a:r>
                      <a:br>
                        <a:rPr lang="en-US">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400"/>
                        <a:buFont typeface="Calibri"/>
                        <a:buNone/>
                      </a:pPr>
                      <a:r>
                        <a:t/>
                      </a:r>
                      <a:endParaRPr sz="1400">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000000"/>
                        </a:buClr>
                        <a:buSzPts val="1400"/>
                        <a:buFont typeface="Times New Roman"/>
                        <a:buNone/>
                      </a:pPr>
                      <a:r>
                        <a:rPr b="0" i="0" lang="en-US" sz="1400" u="none" strike="noStrike">
                          <a:solidFill>
                            <a:srgbClr val="000000"/>
                          </a:solidFill>
                          <a:latin typeface="Times New Roman"/>
                          <a:ea typeface="Times New Roman"/>
                          <a:cs typeface="Times New Roman"/>
                          <a:sym typeface="Times New Roman"/>
                        </a:rPr>
                        <a:t>The study focuses on experimentally validating an energy-yield prediction model for bifacial photovoltaic modules deployed in a Canadian cold-climate environment. It investigates how rear-side gains respond to seasonal irradiance variability, snow-induced albedo changes, and hemispherical light distribution.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285750" lvl="0" marL="285750" marR="0" rtl="0" algn="l">
                        <a:lnSpc>
                          <a:spcPct val="100000"/>
                        </a:lnSpc>
                        <a:spcBef>
                          <a:spcPts val="0"/>
                        </a:spcBef>
                        <a:spcAft>
                          <a:spcPts val="0"/>
                        </a:spcAft>
                        <a:buClr>
                          <a:srgbClr val="000000"/>
                        </a:buClr>
                        <a:buSzPts val="1400"/>
                        <a:buFont typeface="Arial"/>
                        <a:buChar char="•"/>
                      </a:pPr>
                      <a:r>
                        <a:rPr b="0" i="0" lang="en-US" sz="1400" u="none" strike="noStrike">
                          <a:solidFill>
                            <a:srgbClr val="000000"/>
                          </a:solidFill>
                          <a:latin typeface="Times New Roman"/>
                          <a:ea typeface="Times New Roman"/>
                          <a:cs typeface="Times New Roman"/>
                          <a:sym typeface="Times New Roman"/>
                        </a:rPr>
                        <a:t>Ground-measured irradiance inputs reduced normalized RMSE values relative to satellite data, indicating higher modelling fidelity.</a:t>
                      </a:r>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strike="noStrike">
                          <a:solidFill>
                            <a:srgbClr val="000000"/>
                          </a:solidFill>
                          <a:latin typeface="Times New Roman"/>
                          <a:ea typeface="Times New Roman"/>
                          <a:cs typeface="Times New Roman"/>
                          <a:sym typeface="Times New Roman"/>
                        </a:rPr>
                        <a:t>Winter deviations were dominated by snow-driven albedo spikes and shading, but integrating snow-coverage detection reduced prediction error by ~50%.</a:t>
                      </a:r>
                      <a:endParaRPr/>
                    </a:p>
                    <a:p>
                      <a:pPr indent="0" lvl="0" marL="0" marR="0" rtl="0" algn="l">
                        <a:lnSpc>
                          <a:spcPct val="100000"/>
                        </a:lnSpc>
                        <a:spcBef>
                          <a:spcPts val="0"/>
                        </a:spcBef>
                        <a:spcAft>
                          <a:spcPts val="0"/>
                        </a:spcAft>
                        <a:buNone/>
                      </a:pPr>
                      <a: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793600">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11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Jang et al. (2021),</a:t>
                      </a:r>
                      <a:r>
                        <a:rPr b="0" i="0" lang="en-US" sz="1400" u="none" strike="noStrike">
                          <a:solidFill>
                            <a:srgbClr val="000000"/>
                          </a:solidFill>
                          <a:latin typeface="Times New Roman"/>
                          <a:ea typeface="Times New Roman"/>
                          <a:cs typeface="Times New Roman"/>
                          <a:sym typeface="Times New Roman"/>
                        </a:rPr>
                        <a:t>  Performance Analysis of Bifacial PV Modules with Transparent Mesh Backsheet .</a:t>
                      </a:r>
                      <a:r>
                        <a:rPr i="0" lang="en-US" u="none" strike="noStrike">
                          <a:solidFill>
                            <a:srgbClr val="000000"/>
                          </a:solidFill>
                          <a:latin typeface="Times New Roman"/>
                          <a:ea typeface="Times New Roman"/>
                          <a:cs typeface="Times New Roman"/>
                          <a:sym typeface="Times New Roman"/>
                        </a:rPr>
                        <a:t>(</a:t>
                      </a:r>
                      <a:r>
                        <a:rPr i="1" lang="en-US">
                          <a:latin typeface="Times New Roman"/>
                          <a:ea typeface="Times New Roman"/>
                          <a:cs typeface="Times New Roman"/>
                          <a:sym typeface="Times New Roman"/>
                        </a:rPr>
                        <a:t>Energies</a:t>
                      </a:r>
                      <a:r>
                        <a:rPr lang="en-US">
                          <a:latin typeface="Times New Roman"/>
                          <a:ea typeface="Times New Roman"/>
                          <a:cs typeface="Times New Roman"/>
                          <a:sym typeface="Times New Roman"/>
                        </a:rPr>
                        <a:t>, 2021)</a:t>
                      </a:r>
                      <a:endParaRPr>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000000"/>
                        </a:buClr>
                        <a:buSzPts val="1400"/>
                        <a:buFont typeface="Times New Roman"/>
                        <a:buNone/>
                      </a:pPr>
                      <a:r>
                        <a:rPr b="0" i="0" lang="en-US" sz="1400" u="none" strike="noStrike">
                          <a:solidFill>
                            <a:srgbClr val="000000"/>
                          </a:solidFill>
                          <a:latin typeface="Times New Roman"/>
                          <a:ea typeface="Times New Roman"/>
                          <a:cs typeface="Times New Roman"/>
                          <a:sym typeface="Times New Roman"/>
                        </a:rPr>
                        <a:t>The study investigates the performance enhancement potential of bifacial photovoltaic (PV) modules equipped with a transparent mesh backsheet, designed to improve rear-side irradiance capture without compromising structural protection. It assesses optical, electrical, and thermal impacts of mesh-based encapsulation under realistic operating conditions, comparing output characteristics against conventional bifacial designs with opaque backsheets. </a:t>
                      </a:r>
                      <a:endParaRPr sz="140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171450" lvl="0" marL="171450" marR="0" rtl="0" algn="l">
                        <a:lnSpc>
                          <a:spcPct val="100000"/>
                        </a:lnSpc>
                        <a:spcBef>
                          <a:spcPts val="0"/>
                        </a:spcBef>
                        <a:spcAft>
                          <a:spcPts val="0"/>
                        </a:spcAft>
                        <a:buClr>
                          <a:srgbClr val="000000"/>
                        </a:buClr>
                        <a:buSzPts val="1400"/>
                        <a:buFont typeface="Arial"/>
                        <a:buChar char="•"/>
                      </a:pPr>
                      <a:r>
                        <a:rPr b="0" i="0" lang="en-US" sz="1400" u="none" strike="noStrike">
                          <a:solidFill>
                            <a:srgbClr val="000000"/>
                          </a:solidFill>
                          <a:latin typeface="Times New Roman"/>
                          <a:ea typeface="Times New Roman"/>
                          <a:cs typeface="Times New Roman"/>
                          <a:sym typeface="Times New Roman"/>
                        </a:rPr>
                        <a:t>Transparent mesh backsheets increased rear-side irradiance coupling, yielding higher bifacial gain relative to solid backsheets, particularly under elevated albedo or ground-reflective conditions.</a:t>
                      </a:r>
                      <a:endParaRPr b="0" sz="1400">
                        <a:latin typeface="Times New Roman"/>
                        <a:ea typeface="Times New Roman"/>
                        <a:cs typeface="Times New Roman"/>
                        <a:sym typeface="Times New Roman"/>
                      </a:endParaRPr>
                    </a:p>
                    <a:p>
                      <a:pPr indent="-171450" lvl="0" marL="171450" marR="0" rtl="0" algn="l">
                        <a:lnSpc>
                          <a:spcPct val="100000"/>
                        </a:lnSpc>
                        <a:spcBef>
                          <a:spcPts val="0"/>
                        </a:spcBef>
                        <a:spcAft>
                          <a:spcPts val="0"/>
                        </a:spcAft>
                        <a:buClr>
                          <a:srgbClr val="000000"/>
                        </a:buClr>
                        <a:buSzPts val="1400"/>
                        <a:buFont typeface="Arial"/>
                        <a:buChar char="•"/>
                      </a:pPr>
                      <a:r>
                        <a:rPr b="0" i="0" lang="en-US" sz="1400" u="none" strike="noStrike">
                          <a:solidFill>
                            <a:srgbClr val="000000"/>
                          </a:solidFill>
                          <a:latin typeface="Times New Roman"/>
                          <a:ea typeface="Times New Roman"/>
                          <a:cs typeface="Times New Roman"/>
                          <a:sym typeface="Times New Roman"/>
                        </a:rPr>
                        <a:t>Electrical output improvements were observed, but performance was sensitive to mesh density and optical transmittance, requiring careful balance between durability and transparency.</a:t>
                      </a:r>
                      <a:endParaRPr b="0" sz="1400">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t/>
                      </a:r>
                      <a:endParaRPr b="0" sz="140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006850">
                <a:tc>
                  <a:txBody>
                    <a:bodyPr/>
                    <a:lstStyle/>
                    <a:p>
                      <a:pPr indent="0" lvl="0" marL="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Ghafiri, S., Darnon, M., Davigny, A., Trovão, J. P. F. &amp; Abbes, D. (2024)</a:t>
                      </a:r>
                      <a:r>
                        <a:rPr b="0" i="0" lang="en-US" sz="1400" u="none" strike="noStrike">
                          <a:solidFill>
                            <a:srgbClr val="000000"/>
                          </a:solidFill>
                          <a:latin typeface="Times New Roman"/>
                          <a:ea typeface="Times New Roman"/>
                          <a:cs typeface="Times New Roman"/>
                          <a:sym typeface="Times New Roman"/>
                        </a:rPr>
                        <a:t>. A comprehensive performance evaluation of bifacial photovoltaic modules.</a:t>
                      </a:r>
                      <a:r>
                        <a:rPr i="0" lang="en-US" u="none" strike="noStrike">
                          <a:solidFill>
                            <a:srgbClr val="000000"/>
                          </a:solidFill>
                          <a:latin typeface="Times New Roman"/>
                          <a:ea typeface="Times New Roman"/>
                          <a:cs typeface="Times New Roman"/>
                          <a:sym typeface="Times New Roman"/>
                        </a:rPr>
                        <a:t>(</a:t>
                      </a:r>
                      <a:r>
                        <a:rPr i="1" lang="en-US">
                          <a:latin typeface="Times New Roman"/>
                          <a:ea typeface="Times New Roman"/>
                          <a:cs typeface="Times New Roman"/>
                          <a:sym typeface="Times New Roman"/>
                        </a:rPr>
                        <a:t>EPJ Photovoltaics</a:t>
                      </a:r>
                      <a:r>
                        <a:rPr lang="en-US">
                          <a:latin typeface="Times New Roman"/>
                          <a:ea typeface="Times New Roman"/>
                          <a:cs typeface="Times New Roman"/>
                          <a:sym typeface="Times New Roman"/>
                        </a:rPr>
                        <a:t>, 2024)</a:t>
                      </a:r>
                      <a:endParaRPr i="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000000"/>
                        </a:buClr>
                        <a:buSzPts val="1400"/>
                        <a:buFont typeface="Times New Roman"/>
                        <a:buNone/>
                      </a:pPr>
                      <a:r>
                        <a:rPr b="0" i="0" lang="en-US" sz="1400" u="none" strike="noStrike">
                          <a:solidFill>
                            <a:srgbClr val="000000"/>
                          </a:solidFill>
                          <a:latin typeface="Times New Roman"/>
                          <a:ea typeface="Times New Roman"/>
                          <a:cs typeface="Times New Roman"/>
                          <a:sym typeface="Times New Roman"/>
                        </a:rPr>
                        <a:t>The paper focuses on developing and experimentally validating a bifacial photovoltaic (PV) performance model using year-long outdoor measurements in a Canadian cold-climate environment. It evaluates how irradiance sources ground-measured versus satellite-derived affect the accuracy of energy-yield prediction, while accounting for snow-induced albedo variability and rear-side light collection.</a:t>
                      </a:r>
                      <a:endParaRPr sz="140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171450" lvl="0" marL="171450" marR="0" rtl="0" algn="l">
                        <a:lnSpc>
                          <a:spcPct val="100000"/>
                        </a:lnSpc>
                        <a:spcBef>
                          <a:spcPts val="0"/>
                        </a:spcBef>
                        <a:spcAft>
                          <a:spcPts val="0"/>
                        </a:spcAft>
                        <a:buClr>
                          <a:srgbClr val="000000"/>
                        </a:buClr>
                        <a:buSzPts val="1400"/>
                        <a:buFont typeface="Arial"/>
                        <a:buChar char="•"/>
                      </a:pPr>
                      <a:r>
                        <a:rPr b="0" i="0" lang="en-US" sz="1400" u="none" strike="noStrike">
                          <a:solidFill>
                            <a:srgbClr val="000000"/>
                          </a:solidFill>
                          <a:latin typeface="Times New Roman"/>
                          <a:ea typeface="Times New Roman"/>
                          <a:cs typeface="Times New Roman"/>
                          <a:sym typeface="Times New Roman"/>
                        </a:rPr>
                        <a:t>Local irradiance data significantly improved model accuracy compared to satellite-based inputs, lowering seasonal NRMSE values across spring, summer, and fall.</a:t>
                      </a:r>
                      <a:endParaRPr b="0" sz="1400">
                        <a:latin typeface="Times New Roman"/>
                        <a:ea typeface="Times New Roman"/>
                        <a:cs typeface="Times New Roman"/>
                        <a:sym typeface="Times New Roman"/>
                      </a:endParaRPr>
                    </a:p>
                    <a:p>
                      <a:pPr indent="-171450" lvl="0" marL="171450" marR="0" rtl="0" algn="l">
                        <a:lnSpc>
                          <a:spcPct val="100000"/>
                        </a:lnSpc>
                        <a:spcBef>
                          <a:spcPts val="0"/>
                        </a:spcBef>
                        <a:spcAft>
                          <a:spcPts val="0"/>
                        </a:spcAft>
                        <a:buClr>
                          <a:srgbClr val="000000"/>
                        </a:buClr>
                        <a:buSzPts val="1400"/>
                        <a:buFont typeface="Arial"/>
                        <a:buChar char="•"/>
                      </a:pPr>
                      <a:r>
                        <a:rPr b="0" i="0" lang="en-US" sz="1400" u="none" strike="noStrike">
                          <a:solidFill>
                            <a:srgbClr val="000000"/>
                          </a:solidFill>
                          <a:latin typeface="Times New Roman"/>
                          <a:ea typeface="Times New Roman"/>
                          <a:cs typeface="Times New Roman"/>
                          <a:sym typeface="Times New Roman"/>
                        </a:rPr>
                        <a:t>Winter prediction errors rose due to snow-driven albedo fluctuations and shading effects, but integrating snow-detection logic reduced error by roughly 50%.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7"/>
          <p:cNvSpPr txBox="1"/>
          <p:nvPr>
            <p:ph type="title"/>
          </p:nvPr>
        </p:nvSpPr>
        <p:spPr>
          <a:xfrm>
            <a:off x="0" y="34725"/>
            <a:ext cx="11201400" cy="8058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u="sng">
                <a:latin typeface="Times New Roman"/>
                <a:ea typeface="Times New Roman"/>
                <a:cs typeface="Times New Roman"/>
                <a:sym typeface="Times New Roman"/>
              </a:rPr>
              <a:t>Gaps Identified</a:t>
            </a:r>
            <a:endParaRPr/>
          </a:p>
        </p:txBody>
      </p:sp>
      <p:sp>
        <p:nvSpPr>
          <p:cNvPr id="140" name="Google Shape;140;p7"/>
          <p:cNvSpPr txBox="1"/>
          <p:nvPr>
            <p:ph idx="1" type="body"/>
          </p:nvPr>
        </p:nvSpPr>
        <p:spPr>
          <a:xfrm>
            <a:off x="649288" y="1489075"/>
            <a:ext cx="10898187" cy="4610687"/>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000"/>
              <a:buNone/>
            </a:pPr>
            <a:r>
              <a:t/>
            </a:r>
            <a:endParaRPr sz="2000">
              <a:latin typeface="Times New Roman"/>
              <a:ea typeface="Times New Roman"/>
              <a:cs typeface="Times New Roman"/>
              <a:sym typeface="Times New Roman"/>
            </a:endParaRPr>
          </a:p>
          <a:p>
            <a:pPr indent="-419100" lvl="0" marL="457200" rtl="0" algn="l">
              <a:lnSpc>
                <a:spcPct val="115000"/>
              </a:lnSpc>
              <a:spcBef>
                <a:spcPts val="1200"/>
              </a:spcBef>
              <a:spcAft>
                <a:spcPts val="0"/>
              </a:spcAft>
              <a:buSzPts val="3000"/>
              <a:buFont typeface="Times New Roman"/>
              <a:buChar char="➢"/>
            </a:pPr>
            <a:r>
              <a:rPr b="1" lang="en-US" sz="1900">
                <a:latin typeface="Times New Roman"/>
                <a:ea typeface="Times New Roman"/>
                <a:cs typeface="Times New Roman"/>
                <a:sym typeface="Times New Roman"/>
              </a:rPr>
              <a:t>Monofacial Mindset, Bifacial Hardware</a:t>
            </a:r>
            <a:r>
              <a:rPr lang="en-US" sz="1900">
                <a:latin typeface="Times New Roman"/>
                <a:ea typeface="Times New Roman"/>
                <a:cs typeface="Times New Roman"/>
                <a:sym typeface="Times New Roman"/>
              </a:rPr>
              <a:t> Over 60% of utility-scale bifacial installations still use monofacial design rules , ignoring rear irradiance, shading losses, and albedo variability, leaving </a:t>
            </a:r>
            <a:r>
              <a:rPr b="1" lang="en-US" sz="1900">
                <a:latin typeface="Times New Roman"/>
                <a:ea typeface="Times New Roman"/>
                <a:cs typeface="Times New Roman"/>
                <a:sym typeface="Times New Roman"/>
              </a:rPr>
              <a:t>10–20% potential yield untapped.</a:t>
            </a:r>
            <a:endParaRPr b="1" sz="1900">
              <a:latin typeface="Times New Roman"/>
              <a:ea typeface="Times New Roman"/>
              <a:cs typeface="Times New Roman"/>
              <a:sym typeface="Times New Roman"/>
            </a:endParaRPr>
          </a:p>
          <a:p>
            <a:pPr indent="-419100" lvl="0" marL="457200" rtl="0" algn="l">
              <a:lnSpc>
                <a:spcPct val="115000"/>
              </a:lnSpc>
              <a:spcBef>
                <a:spcPts val="0"/>
              </a:spcBef>
              <a:spcAft>
                <a:spcPts val="0"/>
              </a:spcAft>
              <a:buSzPts val="3000"/>
              <a:buFont typeface="Times New Roman"/>
              <a:buChar char="➢"/>
            </a:pPr>
            <a:r>
              <a:rPr b="1" lang="en-US" sz="1900">
                <a:latin typeface="Times New Roman"/>
                <a:ea typeface="Times New Roman"/>
                <a:cs typeface="Times New Roman"/>
                <a:sym typeface="Times New Roman"/>
              </a:rPr>
              <a:t>Tilt &amp; Height: The Unoptimized Variables</a:t>
            </a:r>
            <a:r>
              <a:rPr lang="en-US" sz="1900">
                <a:latin typeface="Times New Roman"/>
                <a:ea typeface="Times New Roman"/>
                <a:cs typeface="Times New Roman"/>
                <a:sym typeface="Times New Roman"/>
              </a:rPr>
              <a:t> A mere </a:t>
            </a:r>
            <a:r>
              <a:rPr b="1" lang="en-US" sz="1900">
                <a:latin typeface="Times New Roman"/>
                <a:ea typeface="Times New Roman"/>
                <a:cs typeface="Times New Roman"/>
                <a:sym typeface="Times New Roman"/>
              </a:rPr>
              <a:t>5° change in tilt or 0.5m change in height</a:t>
            </a:r>
            <a:r>
              <a:rPr lang="en-US" sz="1900">
                <a:latin typeface="Times New Roman"/>
                <a:ea typeface="Times New Roman"/>
                <a:cs typeface="Times New Roman"/>
                <a:sym typeface="Times New Roman"/>
              </a:rPr>
              <a:t> can shift bifacial gain by 3–8% , yet most Indian plant designs apply fixed rules with no site-specific or seasonal tuning.</a:t>
            </a:r>
            <a:endParaRPr sz="1900">
              <a:latin typeface="Times New Roman"/>
              <a:ea typeface="Times New Roman"/>
              <a:cs typeface="Times New Roman"/>
              <a:sym typeface="Times New Roman"/>
            </a:endParaRPr>
          </a:p>
          <a:p>
            <a:pPr indent="-419100" lvl="0" marL="457200" rtl="0" algn="l">
              <a:lnSpc>
                <a:spcPct val="115000"/>
              </a:lnSpc>
              <a:spcBef>
                <a:spcPts val="0"/>
              </a:spcBef>
              <a:spcAft>
                <a:spcPts val="0"/>
              </a:spcAft>
              <a:buSzPts val="3000"/>
              <a:buFont typeface="Times New Roman"/>
              <a:buChar char="➢"/>
            </a:pPr>
            <a:r>
              <a:rPr b="1" lang="en-US" sz="1900">
                <a:latin typeface="Times New Roman"/>
                <a:ea typeface="Times New Roman"/>
                <a:cs typeface="Times New Roman"/>
                <a:sym typeface="Times New Roman"/>
              </a:rPr>
              <a:t> No Ground Truth Data for India</a:t>
            </a:r>
            <a:r>
              <a:rPr lang="en-US" sz="1900">
                <a:latin typeface="Times New Roman"/>
                <a:ea typeface="Times New Roman"/>
                <a:cs typeface="Times New Roman"/>
                <a:sym typeface="Times New Roman"/>
              </a:rPr>
              <a:t> Existing bifacial performance models are validated on European/US datasets. For Indian conditions that is high dust, diverse albedo (0.1–0.35), and tropical sun paths — </a:t>
            </a:r>
            <a:r>
              <a:rPr b="1" lang="en-US" sz="1900">
                <a:latin typeface="Times New Roman"/>
                <a:ea typeface="Times New Roman"/>
                <a:cs typeface="Times New Roman"/>
                <a:sym typeface="Times New Roman"/>
              </a:rPr>
              <a:t>prediction error can exceed 15%</a:t>
            </a:r>
            <a:r>
              <a:rPr lang="en-US" sz="1900">
                <a:latin typeface="Times New Roman"/>
                <a:ea typeface="Times New Roman"/>
                <a:cs typeface="Times New Roman"/>
                <a:sym typeface="Times New Roman"/>
              </a:rPr>
              <a:t>, making optimal configuration decisions unreliable.</a:t>
            </a:r>
            <a:endParaRPr>
              <a:latin typeface="Times New Roman"/>
              <a:ea typeface="Times New Roman"/>
              <a:cs typeface="Times New Roman"/>
              <a:sym typeface="Times New Roman"/>
            </a:endParaRPr>
          </a:p>
        </p:txBody>
      </p:sp>
      <p:sp>
        <p:nvSpPr>
          <p:cNvPr id="141" name="Google Shape;141;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42" name="Google Shape;142;p7"/>
          <p:cNvPicPr preferRelativeResize="0"/>
          <p:nvPr/>
        </p:nvPicPr>
        <p:blipFill rotWithShape="1">
          <a:blip r:embed="rId3">
            <a:alphaModFix/>
          </a:blip>
          <a:srcRect b="0" l="0" r="0" t="0"/>
          <a:stretch/>
        </p:blipFill>
        <p:spPr>
          <a:xfrm>
            <a:off x="11355439" y="34719"/>
            <a:ext cx="805938" cy="805938"/>
          </a:xfrm>
          <a:prstGeom prst="rect">
            <a:avLst/>
          </a:prstGeom>
          <a:noFill/>
          <a:ln>
            <a:noFill/>
          </a:ln>
        </p:spPr>
      </p:pic>
      <p:pic>
        <p:nvPicPr>
          <p:cNvPr id="143" name="Google Shape;143;p7"/>
          <p:cNvPicPr preferRelativeResize="0"/>
          <p:nvPr/>
        </p:nvPicPr>
        <p:blipFill rotWithShape="1">
          <a:blip r:embed="rId4">
            <a:alphaModFix/>
          </a:blip>
          <a:srcRect b="3539" l="0" r="0" t="3549"/>
          <a:stretch/>
        </p:blipFill>
        <p:spPr>
          <a:xfrm>
            <a:off x="0" y="1"/>
            <a:ext cx="12192000" cy="7167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8"/>
          <p:cNvSpPr txBox="1"/>
          <p:nvPr>
            <p:ph type="title"/>
          </p:nvPr>
        </p:nvSpPr>
        <p:spPr>
          <a:xfrm>
            <a:off x="746760" y="263525"/>
            <a:ext cx="105156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u="sng">
                <a:latin typeface="Times New Roman"/>
                <a:ea typeface="Times New Roman"/>
                <a:cs typeface="Times New Roman"/>
                <a:sym typeface="Times New Roman"/>
              </a:rPr>
              <a:t>Problem Statement</a:t>
            </a:r>
            <a:endParaRPr/>
          </a:p>
        </p:txBody>
      </p:sp>
      <p:sp>
        <p:nvSpPr>
          <p:cNvPr id="149" name="Google Shape;149;p8"/>
          <p:cNvSpPr txBox="1"/>
          <p:nvPr>
            <p:ph idx="1" type="body"/>
          </p:nvPr>
        </p:nvSpPr>
        <p:spPr>
          <a:xfrm>
            <a:off x="649300" y="1686738"/>
            <a:ext cx="10888200" cy="4572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b="1" sz="2400">
              <a:latin typeface="Times New Roman"/>
              <a:ea typeface="Times New Roman"/>
              <a:cs typeface="Times New Roman"/>
              <a:sym typeface="Times New Roman"/>
            </a:endParaRPr>
          </a:p>
        </p:txBody>
      </p:sp>
      <p:sp>
        <p:nvSpPr>
          <p:cNvPr id="150" name="Google Shape;150;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51" name="Google Shape;151;p8"/>
          <p:cNvPicPr preferRelativeResize="0"/>
          <p:nvPr/>
        </p:nvPicPr>
        <p:blipFill rotWithShape="1">
          <a:blip r:embed="rId3">
            <a:alphaModFix/>
          </a:blip>
          <a:srcRect b="0" l="0" r="0" t="0"/>
          <a:stretch/>
        </p:blipFill>
        <p:spPr>
          <a:xfrm>
            <a:off x="11355439" y="34719"/>
            <a:ext cx="805938" cy="805938"/>
          </a:xfrm>
          <a:prstGeom prst="rect">
            <a:avLst/>
          </a:prstGeom>
          <a:noFill/>
          <a:ln>
            <a:noFill/>
          </a:ln>
        </p:spPr>
      </p:pic>
      <p:sp>
        <p:nvSpPr>
          <p:cNvPr id="152" name="Google Shape;152;p8"/>
          <p:cNvSpPr/>
          <p:nvPr/>
        </p:nvSpPr>
        <p:spPr>
          <a:xfrm>
            <a:off x="6972300" y="2387600"/>
            <a:ext cx="1295400" cy="965200"/>
          </a:xfrm>
          <a:prstGeom prst="smileyFace">
            <a:avLst>
              <a:gd fmla="val 4653" name="adj"/>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3" name="Google Shape;153;p8"/>
          <p:cNvSpPr/>
          <p:nvPr/>
        </p:nvSpPr>
        <p:spPr>
          <a:xfrm>
            <a:off x="931005" y="1935638"/>
            <a:ext cx="10331355" cy="4046561"/>
          </a:xfrm>
          <a:prstGeom prst="rect">
            <a:avLst/>
          </a:prstGeom>
          <a:solidFill>
            <a:schemeClr val="lt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800" u="none" cap="none" strike="noStrike">
                <a:solidFill>
                  <a:schemeClr val="dk1"/>
                </a:solidFill>
                <a:latin typeface="Times New Roman"/>
                <a:ea typeface="Times New Roman"/>
                <a:cs typeface="Times New Roman"/>
                <a:sym typeface="Times New Roman"/>
              </a:rPr>
              <a:t>How can </a:t>
            </a:r>
            <a:r>
              <a:rPr b="1" lang="en-US" sz="2800">
                <a:solidFill>
                  <a:schemeClr val="dk1"/>
                </a:solidFill>
                <a:latin typeface="Times New Roman"/>
                <a:ea typeface="Times New Roman"/>
                <a:cs typeface="Times New Roman"/>
                <a:sym typeface="Times New Roman"/>
              </a:rPr>
              <a:t>the rear side energy contribution and overall performance of Bifacial PV systems be maximized by optimally selecting surface albedo, panel tilt angle and mounting height?</a:t>
            </a:r>
            <a:endParaRPr b="1" i="0" sz="2800" u="none" cap="none" strike="noStrike">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c0c4028e41_0_21"/>
          <p:cNvSpPr txBox="1"/>
          <p:nvPr>
            <p:ph type="title"/>
          </p:nvPr>
        </p:nvSpPr>
        <p:spPr>
          <a:xfrm>
            <a:off x="698059" y="81903"/>
            <a:ext cx="10515600" cy="1325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u="sng">
                <a:latin typeface="Times New Roman"/>
                <a:ea typeface="Times New Roman"/>
                <a:cs typeface="Times New Roman"/>
                <a:sym typeface="Times New Roman"/>
              </a:rPr>
              <a:t>Rear Power from Bifacial PV</a:t>
            </a:r>
            <a:endParaRPr u="sng">
              <a:latin typeface="Times New Roman"/>
              <a:ea typeface="Times New Roman"/>
              <a:cs typeface="Times New Roman"/>
              <a:sym typeface="Times New Roman"/>
            </a:endParaRPr>
          </a:p>
        </p:txBody>
      </p:sp>
      <p:pic>
        <p:nvPicPr>
          <p:cNvPr id="159" name="Google Shape;159;g3c0c4028e41_0_21"/>
          <p:cNvPicPr preferRelativeResize="0"/>
          <p:nvPr/>
        </p:nvPicPr>
        <p:blipFill rotWithShape="1">
          <a:blip r:embed="rId3">
            <a:alphaModFix/>
          </a:blip>
          <a:srcRect b="0" l="0" r="0" t="0"/>
          <a:stretch/>
        </p:blipFill>
        <p:spPr>
          <a:xfrm>
            <a:off x="11355439" y="34719"/>
            <a:ext cx="805938" cy="805938"/>
          </a:xfrm>
          <a:prstGeom prst="rect">
            <a:avLst/>
          </a:prstGeom>
          <a:noFill/>
          <a:ln>
            <a:noFill/>
          </a:ln>
        </p:spPr>
      </p:pic>
      <p:sp>
        <p:nvSpPr>
          <p:cNvPr id="160" name="Google Shape;160;g3c0c4028e41_0_2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61" name="Google Shape;161;g3c0c4028e41_0_21"/>
          <p:cNvPicPr preferRelativeResize="0"/>
          <p:nvPr/>
        </p:nvPicPr>
        <p:blipFill>
          <a:blip r:embed="rId4">
            <a:alphaModFix/>
          </a:blip>
          <a:stretch>
            <a:fillRect/>
          </a:stretch>
        </p:blipFill>
        <p:spPr>
          <a:xfrm>
            <a:off x="344700" y="1407600"/>
            <a:ext cx="5726725" cy="4605449"/>
          </a:xfrm>
          <a:prstGeom prst="rect">
            <a:avLst/>
          </a:prstGeom>
          <a:noFill/>
          <a:ln>
            <a:noFill/>
          </a:ln>
        </p:spPr>
      </p:pic>
      <p:sp>
        <p:nvSpPr>
          <p:cNvPr id="162" name="Google Shape;162;g3c0c4028e41_0_21"/>
          <p:cNvSpPr txBox="1"/>
          <p:nvPr>
            <p:ph idx="1" type="body"/>
          </p:nvPr>
        </p:nvSpPr>
        <p:spPr>
          <a:xfrm>
            <a:off x="6431350" y="1444275"/>
            <a:ext cx="5232300" cy="3374400"/>
          </a:xfrm>
          <a:prstGeom prst="rect">
            <a:avLst/>
          </a:prstGeom>
          <a:noFill/>
          <a:ln cap="flat" cmpd="sng" w="19050">
            <a:solidFill>
              <a:srgbClr val="073763"/>
            </a:solidFill>
            <a:prstDash val="solid"/>
            <a:round/>
            <a:headEnd len="sm" w="sm" type="none"/>
            <a:tailEnd len="sm" w="sm" type="none"/>
          </a:ln>
        </p:spPr>
        <p:txBody>
          <a:bodyPr anchorCtr="0" anchor="t" bIns="45700" lIns="91425" spcFirstLastPara="1" rIns="91425" wrap="square" tIns="45700">
            <a:normAutofit lnSpcReduction="10000"/>
          </a:bodyPr>
          <a:lstStyle/>
          <a:p>
            <a:pPr indent="-101600" lvl="0" marL="228600" rtl="0" algn="just">
              <a:lnSpc>
                <a:spcPct val="90000"/>
              </a:lnSpc>
              <a:spcBef>
                <a:spcPts val="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2208">
                <a:latin typeface="Times New Roman"/>
                <a:ea typeface="Times New Roman"/>
                <a:cs typeface="Times New Roman"/>
                <a:sym typeface="Times New Roman"/>
              </a:rPr>
              <a:t>   Rear gain of Bifacial PV depends on :</a:t>
            </a:r>
            <a:endParaRPr sz="2208">
              <a:latin typeface="Times New Roman"/>
              <a:ea typeface="Times New Roman"/>
              <a:cs typeface="Times New Roman"/>
              <a:sym typeface="Times New Roman"/>
            </a:endParaRPr>
          </a:p>
          <a:p>
            <a:pPr indent="0" lvl="0" marL="228600" rtl="0" algn="l">
              <a:lnSpc>
                <a:spcPct val="115000"/>
              </a:lnSpc>
              <a:spcBef>
                <a:spcPts val="0"/>
              </a:spcBef>
              <a:spcAft>
                <a:spcPts val="0"/>
              </a:spcAft>
              <a:buNone/>
            </a:pPr>
            <a:br>
              <a:rPr lang="en-US" sz="2208">
                <a:latin typeface="Times New Roman"/>
                <a:ea typeface="Times New Roman"/>
                <a:cs typeface="Times New Roman"/>
                <a:sym typeface="Times New Roman"/>
              </a:rPr>
            </a:br>
            <a:r>
              <a:rPr lang="en-US" sz="2208">
                <a:latin typeface="Times New Roman"/>
                <a:ea typeface="Times New Roman"/>
                <a:cs typeface="Times New Roman"/>
                <a:sym typeface="Times New Roman"/>
              </a:rPr>
              <a:t>i) surface albedo (ρ)</a:t>
            </a:r>
            <a:endParaRPr sz="2208">
              <a:latin typeface="Times New Roman"/>
              <a:ea typeface="Times New Roman"/>
              <a:cs typeface="Times New Roman"/>
              <a:sym typeface="Times New Roman"/>
            </a:endParaRPr>
          </a:p>
          <a:p>
            <a:pPr indent="0" lvl="0" marL="228600" rtl="0" algn="l">
              <a:lnSpc>
                <a:spcPct val="115000"/>
              </a:lnSpc>
              <a:spcBef>
                <a:spcPts val="0"/>
              </a:spcBef>
              <a:spcAft>
                <a:spcPts val="0"/>
              </a:spcAft>
              <a:buNone/>
            </a:pPr>
            <a:r>
              <a:rPr lang="en-US" sz="2208">
                <a:latin typeface="Times New Roman"/>
                <a:ea typeface="Times New Roman"/>
                <a:cs typeface="Times New Roman"/>
                <a:sym typeface="Times New Roman"/>
              </a:rPr>
              <a:t>ii) tilt angle (β)</a:t>
            </a:r>
            <a:endParaRPr sz="2208">
              <a:latin typeface="Times New Roman"/>
              <a:ea typeface="Times New Roman"/>
              <a:cs typeface="Times New Roman"/>
              <a:sym typeface="Times New Roman"/>
            </a:endParaRPr>
          </a:p>
          <a:p>
            <a:pPr indent="0" lvl="0" marL="228600" rtl="0" algn="l">
              <a:lnSpc>
                <a:spcPct val="115000"/>
              </a:lnSpc>
              <a:spcBef>
                <a:spcPts val="0"/>
              </a:spcBef>
              <a:spcAft>
                <a:spcPts val="0"/>
              </a:spcAft>
              <a:buNone/>
            </a:pPr>
            <a:r>
              <a:rPr lang="en-US" sz="2208">
                <a:latin typeface="Times New Roman"/>
                <a:ea typeface="Times New Roman"/>
                <a:cs typeface="Times New Roman"/>
                <a:sym typeface="Times New Roman"/>
              </a:rPr>
              <a:t>iii) mounting height (</a:t>
            </a:r>
            <a:r>
              <a:rPr i="1" lang="en-US" sz="2208">
                <a:latin typeface="Times New Roman"/>
                <a:ea typeface="Times New Roman"/>
                <a:cs typeface="Times New Roman"/>
                <a:sym typeface="Times New Roman"/>
              </a:rPr>
              <a:t>h</a:t>
            </a:r>
            <a:r>
              <a:rPr lang="en-US" sz="2208">
                <a:latin typeface="Times New Roman"/>
                <a:ea typeface="Times New Roman"/>
                <a:cs typeface="Times New Roman"/>
                <a:sym typeface="Times New Roman"/>
              </a:rPr>
              <a:t>)</a:t>
            </a:r>
            <a:endParaRPr sz="2208">
              <a:latin typeface="Times New Roman"/>
              <a:ea typeface="Times New Roman"/>
              <a:cs typeface="Times New Roman"/>
              <a:sym typeface="Times New Roman"/>
            </a:endParaRPr>
          </a:p>
          <a:p>
            <a:pPr indent="0" lvl="0" marL="228600" rtl="0" algn="l">
              <a:lnSpc>
                <a:spcPct val="115000"/>
              </a:lnSpc>
              <a:spcBef>
                <a:spcPts val="0"/>
              </a:spcBef>
              <a:spcAft>
                <a:spcPts val="0"/>
              </a:spcAft>
              <a:buNone/>
            </a:pPr>
            <a:r>
              <a:rPr lang="en-US" sz="2208">
                <a:latin typeface="Times New Roman"/>
                <a:ea typeface="Times New Roman"/>
                <a:cs typeface="Times New Roman"/>
                <a:sym typeface="Times New Roman"/>
              </a:rPr>
              <a:t>iv) solar irradiance (</a:t>
            </a:r>
            <a:r>
              <a:rPr i="1" lang="en-US" sz="2208">
                <a:latin typeface="Times New Roman"/>
                <a:ea typeface="Times New Roman"/>
                <a:cs typeface="Times New Roman"/>
                <a:sym typeface="Times New Roman"/>
              </a:rPr>
              <a:t>GHI</a:t>
            </a:r>
            <a:r>
              <a:rPr lang="en-US" sz="2208">
                <a:latin typeface="Times New Roman"/>
                <a:ea typeface="Times New Roman"/>
                <a:cs typeface="Times New Roman"/>
                <a:sym typeface="Times New Roman"/>
              </a:rPr>
              <a:t>)</a:t>
            </a:r>
            <a:endParaRPr sz="2208">
              <a:latin typeface="Times New Roman"/>
              <a:ea typeface="Times New Roman"/>
              <a:cs typeface="Times New Roman"/>
              <a:sym typeface="Times New Roman"/>
            </a:endParaRPr>
          </a:p>
          <a:p>
            <a:pPr indent="0" lvl="0" marL="228600" rtl="0" algn="l">
              <a:lnSpc>
                <a:spcPct val="115000"/>
              </a:lnSpc>
              <a:spcBef>
                <a:spcPts val="0"/>
              </a:spcBef>
              <a:spcAft>
                <a:spcPts val="0"/>
              </a:spcAft>
              <a:buNone/>
            </a:pPr>
            <a:r>
              <a:rPr lang="en-US" sz="2208">
                <a:latin typeface="Times New Roman"/>
                <a:ea typeface="Times New Roman"/>
                <a:cs typeface="Times New Roman"/>
                <a:sym typeface="Times New Roman"/>
              </a:rPr>
              <a:t>v) rear side efficiency (η)</a:t>
            </a:r>
            <a:endParaRPr sz="2208">
              <a:latin typeface="Times New Roman"/>
              <a:ea typeface="Times New Roman"/>
              <a:cs typeface="Times New Roman"/>
              <a:sym typeface="Times New Roman"/>
            </a:endParaRPr>
          </a:p>
          <a:p>
            <a:pPr indent="0" lvl="0" marL="228600" rtl="0" algn="l">
              <a:lnSpc>
                <a:spcPct val="115000"/>
              </a:lnSpc>
              <a:spcBef>
                <a:spcPts val="0"/>
              </a:spcBef>
              <a:spcAft>
                <a:spcPts val="0"/>
              </a:spcAft>
              <a:buNone/>
            </a:pPr>
            <a:r>
              <a:rPr lang="en-US" sz="2208">
                <a:latin typeface="Times New Roman"/>
                <a:ea typeface="Times New Roman"/>
                <a:cs typeface="Times New Roman"/>
                <a:sym typeface="Times New Roman"/>
              </a:rPr>
              <a:t>vi) panel area (</a:t>
            </a:r>
            <a:r>
              <a:rPr i="1" lang="en-US" sz="2208">
                <a:latin typeface="Times New Roman"/>
                <a:ea typeface="Times New Roman"/>
                <a:cs typeface="Times New Roman"/>
                <a:sym typeface="Times New Roman"/>
              </a:rPr>
              <a:t>A</a:t>
            </a:r>
            <a:r>
              <a:rPr lang="en-US" sz="2208">
                <a:latin typeface="Times New Roman"/>
                <a:ea typeface="Times New Roman"/>
                <a:cs typeface="Times New Roman"/>
                <a:sym typeface="Times New Roman"/>
              </a:rPr>
              <a:t>)</a:t>
            </a:r>
            <a:endParaRPr sz="2208">
              <a:latin typeface="Times New Roman"/>
              <a:ea typeface="Times New Roman"/>
              <a:cs typeface="Times New Roman"/>
              <a:sym typeface="Times New Roman"/>
            </a:endParaRPr>
          </a:p>
        </p:txBody>
      </p:sp>
      <p:pic>
        <p:nvPicPr>
          <p:cNvPr id="163" name="Google Shape;163;g3c0c4028e41_0_21"/>
          <p:cNvPicPr preferRelativeResize="0"/>
          <p:nvPr/>
        </p:nvPicPr>
        <p:blipFill>
          <a:blip r:embed="rId5">
            <a:alphaModFix/>
          </a:blip>
          <a:stretch>
            <a:fillRect/>
          </a:stretch>
        </p:blipFill>
        <p:spPr>
          <a:xfrm>
            <a:off x="6431350" y="5161975"/>
            <a:ext cx="5232300" cy="851075"/>
          </a:xfrm>
          <a:prstGeom prst="rect">
            <a:avLst/>
          </a:prstGeom>
          <a:noFill/>
          <a:ln cap="flat" cmpd="sng" w="19050">
            <a:solidFill>
              <a:srgbClr val="F1C232"/>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c0cb13ea2a_0_6"/>
          <p:cNvSpPr txBox="1"/>
          <p:nvPr>
            <p:ph type="title"/>
          </p:nvPr>
        </p:nvSpPr>
        <p:spPr>
          <a:xfrm>
            <a:off x="698050" y="81900"/>
            <a:ext cx="10515600" cy="758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u="sng">
                <a:latin typeface="Times New Roman"/>
                <a:ea typeface="Times New Roman"/>
                <a:cs typeface="Times New Roman"/>
                <a:sym typeface="Times New Roman"/>
              </a:rPr>
              <a:t>Modelling and Script </a:t>
            </a:r>
            <a:endParaRPr/>
          </a:p>
        </p:txBody>
      </p:sp>
      <p:pic>
        <p:nvPicPr>
          <p:cNvPr id="169" name="Google Shape;169;g3c0cb13ea2a_0_6"/>
          <p:cNvPicPr preferRelativeResize="0"/>
          <p:nvPr/>
        </p:nvPicPr>
        <p:blipFill rotWithShape="1">
          <a:blip r:embed="rId3">
            <a:alphaModFix/>
          </a:blip>
          <a:srcRect b="0" l="0" r="0" t="0"/>
          <a:stretch/>
        </p:blipFill>
        <p:spPr>
          <a:xfrm>
            <a:off x="11355439" y="34719"/>
            <a:ext cx="805938" cy="805938"/>
          </a:xfrm>
          <a:prstGeom prst="rect">
            <a:avLst/>
          </a:prstGeom>
          <a:noFill/>
          <a:ln>
            <a:noFill/>
          </a:ln>
        </p:spPr>
      </p:pic>
      <p:sp>
        <p:nvSpPr>
          <p:cNvPr id="170" name="Google Shape;170;g3c0cb13ea2a_0_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1" name="Google Shape;171;g3c0cb13ea2a_0_6"/>
          <p:cNvPicPr preferRelativeResize="0"/>
          <p:nvPr/>
        </p:nvPicPr>
        <p:blipFill>
          <a:blip r:embed="rId4">
            <a:alphaModFix/>
          </a:blip>
          <a:stretch>
            <a:fillRect/>
          </a:stretch>
        </p:blipFill>
        <p:spPr>
          <a:xfrm>
            <a:off x="7970175" y="840600"/>
            <a:ext cx="4113975" cy="4181476"/>
          </a:xfrm>
          <a:prstGeom prst="rect">
            <a:avLst/>
          </a:prstGeom>
          <a:noFill/>
          <a:ln cap="flat" cmpd="sng" w="19050">
            <a:solidFill>
              <a:schemeClr val="dk1"/>
            </a:solidFill>
            <a:prstDash val="dash"/>
            <a:round/>
            <a:headEnd len="sm" w="sm" type="none"/>
            <a:tailEnd len="sm" w="sm" type="none"/>
          </a:ln>
        </p:spPr>
      </p:pic>
      <p:pic>
        <p:nvPicPr>
          <p:cNvPr id="172" name="Google Shape;172;g3c0cb13ea2a_0_6"/>
          <p:cNvPicPr preferRelativeResize="0"/>
          <p:nvPr/>
        </p:nvPicPr>
        <p:blipFill>
          <a:blip r:embed="rId5">
            <a:alphaModFix/>
          </a:blip>
          <a:stretch>
            <a:fillRect/>
          </a:stretch>
        </p:blipFill>
        <p:spPr>
          <a:xfrm>
            <a:off x="91450" y="840600"/>
            <a:ext cx="7780675" cy="4181475"/>
          </a:xfrm>
          <a:prstGeom prst="rect">
            <a:avLst/>
          </a:prstGeom>
          <a:noFill/>
          <a:ln cap="flat" cmpd="sng" w="19050">
            <a:solidFill>
              <a:schemeClr val="dk1"/>
            </a:solidFill>
            <a:prstDash val="dash"/>
            <a:round/>
            <a:headEnd len="sm" w="sm" type="none"/>
            <a:tailEnd len="sm" w="sm" type="none"/>
          </a:ln>
        </p:spPr>
      </p:pic>
      <p:sp>
        <p:nvSpPr>
          <p:cNvPr id="173" name="Google Shape;173;g3c0cb13ea2a_0_6"/>
          <p:cNvSpPr txBox="1"/>
          <p:nvPr/>
        </p:nvSpPr>
        <p:spPr>
          <a:xfrm>
            <a:off x="-50" y="5163575"/>
            <a:ext cx="12192000" cy="14166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Simulink model integrates 5 physical inputs </a:t>
            </a:r>
            <a:r>
              <a:rPr i="1" lang="en-US" sz="2000">
                <a:solidFill>
                  <a:schemeClr val="dk1"/>
                </a:solidFill>
                <a:latin typeface="Times New Roman"/>
                <a:ea typeface="Times New Roman"/>
                <a:cs typeface="Times New Roman"/>
                <a:sym typeface="Times New Roman"/>
              </a:rPr>
              <a:t>(Irradiance, Temp, Tilt, Height, Albedo)</a:t>
            </a:r>
            <a:r>
              <a:rPr lang="en-US" sz="2000">
                <a:solidFill>
                  <a:schemeClr val="dk1"/>
                </a:solidFill>
                <a:latin typeface="Times New Roman"/>
                <a:ea typeface="Times New Roman"/>
                <a:cs typeface="Times New Roman"/>
                <a:sym typeface="Times New Roman"/>
              </a:rPr>
              <a:t> to simulate real-world bifacial PV behaviour</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Parallel </a:t>
            </a:r>
            <a:r>
              <a:rPr b="1" lang="en-US" sz="2000">
                <a:solidFill>
                  <a:schemeClr val="dk1"/>
                </a:solidFill>
                <a:latin typeface="Times New Roman"/>
                <a:ea typeface="Times New Roman"/>
                <a:cs typeface="Times New Roman"/>
                <a:sym typeface="Times New Roman"/>
              </a:rPr>
              <a:t>IV &amp; PV curve outputs</a:t>
            </a:r>
            <a:r>
              <a:rPr lang="en-US" sz="2000">
                <a:solidFill>
                  <a:schemeClr val="dk1"/>
                </a:solidFill>
                <a:latin typeface="Times New Roman"/>
                <a:ea typeface="Times New Roman"/>
                <a:cs typeface="Times New Roman"/>
                <a:sym typeface="Times New Roman"/>
              </a:rPr>
              <a:t> generated for monofacial vs bifacial — enabling direct performance comparison</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9"/>
          <p:cNvSpPr txBox="1"/>
          <p:nvPr>
            <p:ph type="title"/>
          </p:nvPr>
        </p:nvSpPr>
        <p:spPr>
          <a:xfrm>
            <a:off x="717100" y="30300"/>
            <a:ext cx="10515600" cy="5658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u="sng">
                <a:latin typeface="Times New Roman"/>
                <a:ea typeface="Times New Roman"/>
                <a:cs typeface="Times New Roman"/>
                <a:sym typeface="Times New Roman"/>
              </a:rPr>
              <a:t>Methodology Proposed</a:t>
            </a:r>
            <a:endParaRPr/>
          </a:p>
        </p:txBody>
      </p:sp>
      <p:pic>
        <p:nvPicPr>
          <p:cNvPr id="179" name="Google Shape;179;p9"/>
          <p:cNvPicPr preferRelativeResize="0"/>
          <p:nvPr/>
        </p:nvPicPr>
        <p:blipFill rotWithShape="1">
          <a:blip r:embed="rId3">
            <a:alphaModFix/>
          </a:blip>
          <a:srcRect b="0" l="0" r="0" t="0"/>
          <a:stretch/>
        </p:blipFill>
        <p:spPr>
          <a:xfrm>
            <a:off x="11353800" y="-21300"/>
            <a:ext cx="772200" cy="669000"/>
          </a:xfrm>
          <a:prstGeom prst="rect">
            <a:avLst/>
          </a:prstGeom>
          <a:noFill/>
          <a:ln>
            <a:noFill/>
          </a:ln>
        </p:spPr>
      </p:pic>
      <p:sp>
        <p:nvSpPr>
          <p:cNvPr id="180" name="Google Shape;18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1" name="Google Shape;181;p9"/>
          <p:cNvSpPr txBox="1"/>
          <p:nvPr/>
        </p:nvSpPr>
        <p:spPr>
          <a:xfrm>
            <a:off x="194050" y="811075"/>
            <a:ext cx="11561700" cy="1285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US" sz="1500">
                <a:solidFill>
                  <a:srgbClr val="141413"/>
                </a:solidFill>
                <a:highlight>
                  <a:schemeClr val="lt1"/>
                </a:highlight>
                <a:latin typeface="Times New Roman"/>
                <a:ea typeface="Times New Roman"/>
                <a:cs typeface="Times New Roman"/>
                <a:sym typeface="Times New Roman"/>
              </a:rPr>
              <a:t>Why this framework?</a:t>
            </a:r>
            <a:endParaRPr b="1" sz="1500">
              <a:solidFill>
                <a:srgbClr val="141413"/>
              </a:solidFill>
              <a:highlight>
                <a:schemeClr val="lt1"/>
              </a:highlight>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141413"/>
              </a:buClr>
              <a:buSzPts val="1500"/>
              <a:buFont typeface="Times New Roman"/>
              <a:buChar char="●"/>
            </a:pPr>
            <a:r>
              <a:rPr lang="en-US" sz="1500">
                <a:solidFill>
                  <a:srgbClr val="141413"/>
                </a:solidFill>
                <a:highlight>
                  <a:schemeClr val="lt1"/>
                </a:highlight>
                <a:latin typeface="Times New Roman"/>
                <a:ea typeface="Times New Roman"/>
                <a:cs typeface="Times New Roman"/>
                <a:sym typeface="Times New Roman"/>
              </a:rPr>
              <a:t>Manually re-running the Simulink model for every city, date, and parameter combination is time-consuming and error-prone.</a:t>
            </a:r>
            <a:endParaRPr sz="1500">
              <a:solidFill>
                <a:srgbClr val="141413"/>
              </a:solidFill>
              <a:highlight>
                <a:schemeClr val="lt1"/>
              </a:highlight>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141413"/>
              </a:buClr>
              <a:buSzPts val="1500"/>
              <a:buFont typeface="Times New Roman"/>
              <a:buChar char="●"/>
            </a:pPr>
            <a:r>
              <a:rPr lang="en-US" sz="1500">
                <a:solidFill>
                  <a:srgbClr val="141413"/>
                </a:solidFill>
                <a:highlight>
                  <a:schemeClr val="lt1"/>
                </a:highlight>
                <a:latin typeface="Times New Roman"/>
                <a:ea typeface="Times New Roman"/>
                <a:cs typeface="Times New Roman"/>
                <a:sym typeface="Times New Roman"/>
              </a:rPr>
              <a:t>A web-based interface replaces the need for MATLAB expertise, making bifacial PV analysis accessible and reproducible across any location.</a:t>
            </a:r>
            <a:endParaRPr sz="1500">
              <a:solidFill>
                <a:srgbClr val="141413"/>
              </a:solidFill>
              <a:highlight>
                <a:schemeClr val="lt1"/>
              </a:highlight>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The underlying computational model is scaled to evaluate a standard </a:t>
            </a:r>
            <a:r>
              <a:rPr b="1" lang="en-US" sz="1500">
                <a:solidFill>
                  <a:schemeClr val="dk1"/>
                </a:solidFill>
                <a:latin typeface="Times New Roman"/>
                <a:ea typeface="Times New Roman"/>
                <a:cs typeface="Times New Roman"/>
                <a:sym typeface="Times New Roman"/>
              </a:rPr>
              <a:t>5kW bifacial PV system</a:t>
            </a:r>
            <a:r>
              <a:rPr lang="en-US" sz="1500">
                <a:solidFill>
                  <a:schemeClr val="dk1"/>
                </a:solidFill>
                <a:latin typeface="Times New Roman"/>
                <a:ea typeface="Times New Roman"/>
                <a:cs typeface="Times New Roman"/>
                <a:sym typeface="Times New Roman"/>
              </a:rPr>
              <a:t> across all selected locations and configurations.</a:t>
            </a:r>
            <a:endParaRPr sz="1900">
              <a:solidFill>
                <a:srgbClr val="141413"/>
              </a:solidFill>
              <a:highlight>
                <a:schemeClr val="lt1"/>
              </a:highlight>
              <a:latin typeface="Times New Roman"/>
              <a:ea typeface="Times New Roman"/>
              <a:cs typeface="Times New Roman"/>
              <a:sym typeface="Times New Roman"/>
            </a:endParaRPr>
          </a:p>
          <a:p>
            <a:pPr indent="0" lvl="0" marL="457200" rtl="0" algn="l">
              <a:lnSpc>
                <a:spcPct val="115000"/>
              </a:lnSpc>
              <a:spcBef>
                <a:spcPts val="900"/>
              </a:spcBef>
              <a:spcAft>
                <a:spcPts val="900"/>
              </a:spcAft>
              <a:buNone/>
            </a:pPr>
            <a:r>
              <a:t/>
            </a:r>
            <a:endParaRPr sz="1500">
              <a:solidFill>
                <a:srgbClr val="141413"/>
              </a:solidFill>
              <a:highlight>
                <a:schemeClr val="lt1"/>
              </a:highlight>
              <a:latin typeface="Times New Roman"/>
              <a:ea typeface="Times New Roman"/>
              <a:cs typeface="Times New Roman"/>
              <a:sym typeface="Times New Roman"/>
            </a:endParaRPr>
          </a:p>
        </p:txBody>
      </p:sp>
      <p:pic>
        <p:nvPicPr>
          <p:cNvPr id="182" name="Google Shape;182;p9"/>
          <p:cNvPicPr preferRelativeResize="0"/>
          <p:nvPr/>
        </p:nvPicPr>
        <p:blipFill>
          <a:blip r:embed="rId4">
            <a:alphaModFix/>
          </a:blip>
          <a:stretch>
            <a:fillRect/>
          </a:stretch>
        </p:blipFill>
        <p:spPr>
          <a:xfrm>
            <a:off x="619050" y="2259640"/>
            <a:ext cx="10268248" cy="453186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c0cb13ea2a_1_25"/>
          <p:cNvSpPr txBox="1"/>
          <p:nvPr>
            <p:ph type="title"/>
          </p:nvPr>
        </p:nvSpPr>
        <p:spPr>
          <a:xfrm>
            <a:off x="698050" y="81901"/>
            <a:ext cx="10515600" cy="8058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u="sng">
                <a:latin typeface="Times New Roman"/>
                <a:ea typeface="Times New Roman"/>
                <a:cs typeface="Times New Roman"/>
                <a:sym typeface="Times New Roman"/>
              </a:rPr>
              <a:t>Bifacial PV Optimizer</a:t>
            </a:r>
            <a:endParaRPr/>
          </a:p>
        </p:txBody>
      </p:sp>
      <p:sp>
        <p:nvSpPr>
          <p:cNvPr id="188" name="Google Shape;188;g3c0cb13ea2a_1_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89" name="Google Shape;189;g3c0cb13ea2a_1_25"/>
          <p:cNvPicPr preferRelativeResize="0"/>
          <p:nvPr/>
        </p:nvPicPr>
        <p:blipFill rotWithShape="1">
          <a:blip r:embed="rId3">
            <a:alphaModFix/>
          </a:blip>
          <a:srcRect b="21199" l="7994" r="8644" t="24567"/>
          <a:stretch/>
        </p:blipFill>
        <p:spPr>
          <a:xfrm>
            <a:off x="170825" y="2503275"/>
            <a:ext cx="11850350" cy="4076800"/>
          </a:xfrm>
          <a:prstGeom prst="rect">
            <a:avLst/>
          </a:prstGeom>
          <a:noFill/>
          <a:ln cap="flat" cmpd="sng" w="19050">
            <a:solidFill>
              <a:schemeClr val="dk2"/>
            </a:solidFill>
            <a:prstDash val="solid"/>
            <a:round/>
            <a:headEnd len="sm" w="sm" type="none"/>
            <a:tailEnd len="sm" w="sm" type="none"/>
          </a:ln>
        </p:spPr>
      </p:pic>
      <p:sp>
        <p:nvSpPr>
          <p:cNvPr id="190" name="Google Shape;190;g3c0cb13ea2a_1_25"/>
          <p:cNvSpPr txBox="1"/>
          <p:nvPr/>
        </p:nvSpPr>
        <p:spPr>
          <a:xfrm>
            <a:off x="128650" y="914025"/>
            <a:ext cx="12063300" cy="1347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1500">
                <a:solidFill>
                  <a:srgbClr val="141413"/>
                </a:solidFill>
                <a:highlight>
                  <a:schemeClr val="lt1"/>
                </a:highlight>
                <a:latin typeface="Times New Roman"/>
                <a:ea typeface="Times New Roman"/>
                <a:cs typeface="Times New Roman"/>
                <a:sym typeface="Times New Roman"/>
              </a:rPr>
              <a:t>Why this framework?</a:t>
            </a:r>
            <a:endParaRPr b="1" sz="1500">
              <a:solidFill>
                <a:srgbClr val="141413"/>
              </a:solidFill>
              <a:highlight>
                <a:schemeClr val="lt1"/>
              </a:highlight>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141413"/>
              </a:buClr>
              <a:buSzPts val="1500"/>
              <a:buFont typeface="Times New Roman"/>
              <a:buChar char="●"/>
            </a:pPr>
            <a:r>
              <a:rPr lang="en-US" sz="1500">
                <a:solidFill>
                  <a:srgbClr val="141413"/>
                </a:solidFill>
                <a:highlight>
                  <a:schemeClr val="lt1"/>
                </a:highlight>
                <a:latin typeface="Times New Roman"/>
                <a:ea typeface="Times New Roman"/>
                <a:cs typeface="Times New Roman"/>
                <a:sym typeface="Times New Roman"/>
              </a:rPr>
              <a:t>Manually re-running the Simulink model for every city, date, and parameter combination is time-consuming and error-prone</a:t>
            </a:r>
            <a:endParaRPr sz="1500">
              <a:solidFill>
                <a:srgbClr val="141413"/>
              </a:solidFill>
              <a:highlight>
                <a:schemeClr val="lt1"/>
              </a:highlight>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141413"/>
              </a:buClr>
              <a:buSzPts val="1500"/>
              <a:buFont typeface="Times New Roman"/>
              <a:buChar char="●"/>
            </a:pPr>
            <a:r>
              <a:rPr lang="en-US" sz="1500">
                <a:solidFill>
                  <a:srgbClr val="141413"/>
                </a:solidFill>
                <a:highlight>
                  <a:schemeClr val="lt1"/>
                </a:highlight>
                <a:latin typeface="Times New Roman"/>
                <a:ea typeface="Times New Roman"/>
                <a:cs typeface="Times New Roman"/>
                <a:sym typeface="Times New Roman"/>
              </a:rPr>
              <a:t>The proposed framework automates this pipeline — from user inputs to NASA irradiance fetch to simulation — eliminating repetitive manual effort</a:t>
            </a:r>
            <a:endParaRPr sz="1500">
              <a:solidFill>
                <a:srgbClr val="141413"/>
              </a:solidFill>
              <a:highlight>
                <a:schemeClr val="lt1"/>
              </a:highlight>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141413"/>
              </a:buClr>
              <a:buSzPts val="1500"/>
              <a:buFont typeface="Times New Roman"/>
              <a:buChar char="●"/>
            </a:pPr>
            <a:r>
              <a:rPr lang="en-US" sz="1500">
                <a:solidFill>
                  <a:srgbClr val="141413"/>
                </a:solidFill>
                <a:highlight>
                  <a:schemeClr val="lt1"/>
                </a:highlight>
                <a:latin typeface="Times New Roman"/>
                <a:ea typeface="Times New Roman"/>
                <a:cs typeface="Times New Roman"/>
                <a:sym typeface="Times New Roman"/>
              </a:rPr>
              <a:t>A web-based interface replaces the need for MATLAB expertise, making bifacial PV analysis accessible, scalable, and reproducible across any location or configuration</a:t>
            </a:r>
            <a:endParaRPr sz="1500">
              <a:solidFill>
                <a:srgbClr val="141413"/>
              </a:solidFill>
              <a:highlight>
                <a:schemeClr val="lt1"/>
              </a:highlight>
              <a:latin typeface="Times New Roman"/>
              <a:ea typeface="Times New Roman"/>
              <a:cs typeface="Times New Roman"/>
              <a:sym typeface="Times New Roman"/>
            </a:endParaRPr>
          </a:p>
        </p:txBody>
      </p:sp>
      <p:pic>
        <p:nvPicPr>
          <p:cNvPr id="191" name="Google Shape;191;g3c0cb13ea2a_1_25"/>
          <p:cNvPicPr preferRelativeResize="0"/>
          <p:nvPr/>
        </p:nvPicPr>
        <p:blipFill>
          <a:blip r:embed="rId4">
            <a:alphaModFix/>
          </a:blip>
          <a:stretch>
            <a:fillRect/>
          </a:stretch>
        </p:blipFill>
        <p:spPr>
          <a:xfrm>
            <a:off x="0" y="0"/>
            <a:ext cx="12305048" cy="6795000"/>
          </a:xfrm>
          <a:prstGeom prst="rect">
            <a:avLst/>
          </a:prstGeom>
          <a:noFill/>
          <a:ln cap="flat" cmpd="sng" w="9525">
            <a:solidFill>
              <a:schemeClr val="dk1"/>
            </a:solidFill>
            <a:prstDash val="solid"/>
            <a:round/>
            <a:headEnd len="sm" w="sm" type="none"/>
            <a:tailEnd len="sm" w="sm" type="none"/>
          </a:ln>
        </p:spPr>
      </p:pic>
      <p:pic>
        <p:nvPicPr>
          <p:cNvPr id="192" name="Google Shape;192;g3c0cb13ea2a_1_25"/>
          <p:cNvPicPr preferRelativeResize="0"/>
          <p:nvPr/>
        </p:nvPicPr>
        <p:blipFill>
          <a:blip r:embed="rId5">
            <a:alphaModFix/>
          </a:blip>
          <a:stretch>
            <a:fillRect/>
          </a:stretch>
        </p:blipFill>
        <p:spPr>
          <a:xfrm>
            <a:off x="261600" y="1077425"/>
            <a:ext cx="4584451" cy="5015550"/>
          </a:xfrm>
          <a:prstGeom prst="rect">
            <a:avLst/>
          </a:prstGeom>
          <a:noFill/>
          <a:ln cap="flat" cmpd="sng" w="19050">
            <a:solidFill>
              <a:srgbClr val="888888"/>
            </a:solidFill>
            <a:prstDash val="solid"/>
            <a:round/>
            <a:headEnd len="sm" w="sm" type="none"/>
            <a:tailEnd len="sm" w="sm" type="none"/>
          </a:ln>
        </p:spPr>
      </p:pic>
      <p:pic>
        <p:nvPicPr>
          <p:cNvPr id="193" name="Google Shape;193;g3c0cb13ea2a_1_25"/>
          <p:cNvPicPr preferRelativeResize="0"/>
          <p:nvPr/>
        </p:nvPicPr>
        <p:blipFill>
          <a:blip r:embed="rId6">
            <a:alphaModFix/>
          </a:blip>
          <a:stretch>
            <a:fillRect/>
          </a:stretch>
        </p:blipFill>
        <p:spPr>
          <a:xfrm>
            <a:off x="6356325" y="1114250"/>
            <a:ext cx="4037751" cy="5015551"/>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cbd4cd242c_9_4"/>
          <p:cNvSpPr txBox="1"/>
          <p:nvPr>
            <p:ph type="title"/>
          </p:nvPr>
        </p:nvSpPr>
        <p:spPr>
          <a:xfrm>
            <a:off x="838200" y="365125"/>
            <a:ext cx="10515600" cy="1325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3cbd4cd242c_9_4"/>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t/>
            </a:r>
            <a:endParaRPr/>
          </a:p>
        </p:txBody>
      </p:sp>
      <p:sp>
        <p:nvSpPr>
          <p:cNvPr id="201" name="Google Shape;201;g3cbd4cd242c_9_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02" name="Google Shape;202;g3cbd4cd242c_9_4"/>
          <p:cNvPicPr preferRelativeResize="0"/>
          <p:nvPr/>
        </p:nvPicPr>
        <p:blipFill>
          <a:blip r:embed="rId3">
            <a:alphaModFix/>
          </a:blip>
          <a:stretch>
            <a:fillRect/>
          </a:stretch>
        </p:blipFill>
        <p:spPr>
          <a:xfrm>
            <a:off x="0" y="0"/>
            <a:ext cx="12192000" cy="6858000"/>
          </a:xfrm>
          <a:prstGeom prst="rect">
            <a:avLst/>
          </a:prstGeom>
          <a:noFill/>
          <a:ln>
            <a:noFill/>
          </a:ln>
        </p:spPr>
      </p:pic>
      <p:sp>
        <p:nvSpPr>
          <p:cNvPr id="203" name="Google Shape;203;g3cbd4cd242c_9_4"/>
          <p:cNvSpPr/>
          <p:nvPr/>
        </p:nvSpPr>
        <p:spPr>
          <a:xfrm>
            <a:off x="453825" y="1508925"/>
            <a:ext cx="5394000" cy="43512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204" name="Google Shape;204;g3cbd4cd242c_9_4"/>
          <p:cNvPicPr preferRelativeResize="0"/>
          <p:nvPr/>
        </p:nvPicPr>
        <p:blipFill>
          <a:blip r:embed="rId4">
            <a:alphaModFix/>
          </a:blip>
          <a:stretch>
            <a:fillRect/>
          </a:stretch>
        </p:blipFill>
        <p:spPr>
          <a:xfrm>
            <a:off x="6371750" y="1478125"/>
            <a:ext cx="5393925" cy="4351200"/>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cbd4cd242c_9_12"/>
          <p:cNvSpPr txBox="1"/>
          <p:nvPr>
            <p:ph type="title"/>
          </p:nvPr>
        </p:nvSpPr>
        <p:spPr>
          <a:xfrm>
            <a:off x="838200" y="365125"/>
            <a:ext cx="10515600" cy="1325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g3cbd4cd242c_9_12"/>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t/>
            </a:r>
            <a:endParaRPr/>
          </a:p>
        </p:txBody>
      </p:sp>
      <p:sp>
        <p:nvSpPr>
          <p:cNvPr id="212" name="Google Shape;212;g3cbd4cd242c_9_1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13" name="Google Shape;213;g3cbd4cd242c_9_12"/>
          <p:cNvPicPr preferRelativeResize="0"/>
          <p:nvPr/>
        </p:nvPicPr>
        <p:blipFill>
          <a:blip r:embed="rId3">
            <a:alphaModFix/>
          </a:blip>
          <a:stretch>
            <a:fillRect/>
          </a:stretch>
        </p:blipFill>
        <p:spPr>
          <a:xfrm>
            <a:off x="0" y="0"/>
            <a:ext cx="12192000" cy="6858000"/>
          </a:xfrm>
          <a:prstGeom prst="rect">
            <a:avLst/>
          </a:prstGeom>
          <a:noFill/>
          <a:ln>
            <a:noFill/>
          </a:ln>
        </p:spPr>
      </p:pic>
      <p:pic>
        <p:nvPicPr>
          <p:cNvPr id="214" name="Google Shape;214;g3cbd4cd242c_9_12"/>
          <p:cNvPicPr preferRelativeResize="0"/>
          <p:nvPr/>
        </p:nvPicPr>
        <p:blipFill>
          <a:blip r:embed="rId4">
            <a:alphaModFix/>
          </a:blip>
          <a:stretch>
            <a:fillRect/>
          </a:stretch>
        </p:blipFill>
        <p:spPr>
          <a:xfrm>
            <a:off x="6528650" y="1159600"/>
            <a:ext cx="5221624" cy="4234324"/>
          </a:xfrm>
          <a:prstGeom prst="rect">
            <a:avLst/>
          </a:prstGeom>
          <a:noFill/>
          <a:ln cap="flat" cmpd="sng" w="19050">
            <a:solidFill>
              <a:schemeClr val="dk2"/>
            </a:solidFill>
            <a:prstDash val="solid"/>
            <a:round/>
            <a:headEnd len="sm" w="sm" type="none"/>
            <a:tailEnd len="sm" w="sm" type="none"/>
          </a:ln>
        </p:spPr>
      </p:pic>
      <p:pic>
        <p:nvPicPr>
          <p:cNvPr id="215" name="Google Shape;215;g3cbd4cd242c_9_12"/>
          <p:cNvPicPr preferRelativeResize="0"/>
          <p:nvPr/>
        </p:nvPicPr>
        <p:blipFill>
          <a:blip r:embed="rId5">
            <a:alphaModFix/>
          </a:blip>
          <a:stretch>
            <a:fillRect/>
          </a:stretch>
        </p:blipFill>
        <p:spPr>
          <a:xfrm>
            <a:off x="438150" y="1159600"/>
            <a:ext cx="6000749" cy="4234325"/>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cbd4cd242c_10_23"/>
          <p:cNvSpPr txBox="1"/>
          <p:nvPr>
            <p:ph type="title"/>
          </p:nvPr>
        </p:nvSpPr>
        <p:spPr>
          <a:xfrm>
            <a:off x="838200" y="365125"/>
            <a:ext cx="10515600" cy="1325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g3cbd4cd242c_10_23"/>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t/>
            </a:r>
            <a:endParaRPr/>
          </a:p>
        </p:txBody>
      </p:sp>
      <p:sp>
        <p:nvSpPr>
          <p:cNvPr id="223" name="Google Shape;223;g3cbd4cd242c_10_23"/>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24" name="Google Shape;224;g3cbd4cd242c_10_23"/>
          <p:cNvPicPr preferRelativeResize="0"/>
          <p:nvPr/>
        </p:nvPicPr>
        <p:blipFill>
          <a:blip r:embed="rId3">
            <a:alphaModFix/>
          </a:blip>
          <a:stretch>
            <a:fillRect/>
          </a:stretch>
        </p:blipFill>
        <p:spPr>
          <a:xfrm>
            <a:off x="0" y="2977"/>
            <a:ext cx="12192000" cy="685204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cbd4cd242c_9_31"/>
          <p:cNvSpPr txBox="1"/>
          <p:nvPr>
            <p:ph type="title"/>
          </p:nvPr>
        </p:nvSpPr>
        <p:spPr>
          <a:xfrm>
            <a:off x="746800" y="107675"/>
            <a:ext cx="10515600" cy="8058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u="sng">
                <a:latin typeface="Times New Roman"/>
                <a:ea typeface="Times New Roman"/>
                <a:cs typeface="Times New Roman"/>
                <a:sym typeface="Times New Roman"/>
              </a:rPr>
              <a:t>Demo Video</a:t>
            </a:r>
            <a:endParaRPr/>
          </a:p>
        </p:txBody>
      </p:sp>
      <p:sp>
        <p:nvSpPr>
          <p:cNvPr id="230" name="Google Shape;230;g3cbd4cd242c_9_31"/>
          <p:cNvSpPr txBox="1"/>
          <p:nvPr>
            <p:ph idx="1" type="body"/>
          </p:nvPr>
        </p:nvSpPr>
        <p:spPr>
          <a:xfrm>
            <a:off x="649300" y="1686738"/>
            <a:ext cx="10888200" cy="4572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b="1" sz="2400">
              <a:latin typeface="Times New Roman"/>
              <a:ea typeface="Times New Roman"/>
              <a:cs typeface="Times New Roman"/>
              <a:sym typeface="Times New Roman"/>
            </a:endParaRPr>
          </a:p>
        </p:txBody>
      </p:sp>
      <p:sp>
        <p:nvSpPr>
          <p:cNvPr id="231" name="Google Shape;231;g3cbd4cd242c_9_3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32" name="Google Shape;232;g3cbd4cd242c_9_31"/>
          <p:cNvPicPr preferRelativeResize="0"/>
          <p:nvPr/>
        </p:nvPicPr>
        <p:blipFill rotWithShape="1">
          <a:blip r:embed="rId3">
            <a:alphaModFix/>
          </a:blip>
          <a:srcRect b="0" l="0" r="0" t="0"/>
          <a:stretch/>
        </p:blipFill>
        <p:spPr>
          <a:xfrm>
            <a:off x="11355439" y="34719"/>
            <a:ext cx="805938" cy="805938"/>
          </a:xfrm>
          <a:prstGeom prst="rect">
            <a:avLst/>
          </a:prstGeom>
          <a:noFill/>
          <a:ln>
            <a:noFill/>
          </a:ln>
        </p:spPr>
      </p:pic>
      <p:pic>
        <p:nvPicPr>
          <p:cNvPr id="233" name="Google Shape;233;g3cbd4cd242c_9_31" title="Bifacial PV Optimizer - Google Chrome 2026-02-28 12-32-18.mp4">
            <a:hlinkClick r:id="rId4"/>
          </p:cNvPr>
          <p:cNvPicPr preferRelativeResize="0"/>
          <p:nvPr/>
        </p:nvPicPr>
        <p:blipFill>
          <a:blip r:embed="rId5">
            <a:alphaModFix/>
          </a:blip>
          <a:stretch>
            <a:fillRect/>
          </a:stretch>
        </p:blipFill>
        <p:spPr>
          <a:xfrm>
            <a:off x="0" y="913475"/>
            <a:ext cx="12192001" cy="5944525"/>
          </a:xfrm>
          <a:prstGeom prst="rect">
            <a:avLst/>
          </a:prstGeom>
          <a:noFill/>
          <a:ln cap="flat" cmpd="sng" w="19050">
            <a:solidFill>
              <a:schemeClr val="dk2"/>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1000"/>
                                        <p:tgtEl>
                                          <p:spTgt spid="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c47b4ca430_0_0"/>
          <p:cNvSpPr txBox="1"/>
          <p:nvPr>
            <p:ph type="title"/>
          </p:nvPr>
        </p:nvSpPr>
        <p:spPr>
          <a:xfrm>
            <a:off x="698050" y="81901"/>
            <a:ext cx="10515600" cy="8058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u="sng">
                <a:latin typeface="Times New Roman"/>
                <a:ea typeface="Times New Roman"/>
                <a:cs typeface="Times New Roman"/>
                <a:sym typeface="Times New Roman"/>
              </a:rPr>
              <a:t>Future</a:t>
            </a:r>
            <a:r>
              <a:rPr lang="en-US" u="sng">
                <a:latin typeface="Times New Roman"/>
                <a:ea typeface="Times New Roman"/>
                <a:cs typeface="Times New Roman"/>
                <a:sym typeface="Times New Roman"/>
              </a:rPr>
              <a:t> Work</a:t>
            </a:r>
            <a:endParaRPr/>
          </a:p>
        </p:txBody>
      </p:sp>
      <p:sp>
        <p:nvSpPr>
          <p:cNvPr id="239" name="Google Shape;239;g3c47b4ca430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0" name="Google Shape;240;g3c47b4ca430_0_0"/>
          <p:cNvSpPr txBox="1"/>
          <p:nvPr>
            <p:ph idx="1" type="body"/>
          </p:nvPr>
        </p:nvSpPr>
        <p:spPr>
          <a:xfrm>
            <a:off x="482850" y="1123650"/>
            <a:ext cx="11226300" cy="46107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000"/>
              <a:buNone/>
            </a:pPr>
            <a:r>
              <a:t/>
            </a:r>
            <a:endParaRPr sz="2000">
              <a:latin typeface="Times New Roman"/>
              <a:ea typeface="Times New Roman"/>
              <a:cs typeface="Times New Roman"/>
              <a:sym typeface="Times New Roman"/>
            </a:endParaRPr>
          </a:p>
          <a:p>
            <a:pPr indent="-368300" lvl="0" marL="457200" rtl="0" algn="l">
              <a:lnSpc>
                <a:spcPct val="100000"/>
              </a:lnSpc>
              <a:spcBef>
                <a:spcPts val="1100"/>
              </a:spcBef>
              <a:spcAft>
                <a:spcPts val="0"/>
              </a:spcAft>
              <a:buSzPts val="2200"/>
              <a:buFont typeface="Times New Roman"/>
              <a:buChar char="•"/>
            </a:pPr>
            <a:r>
              <a:rPr lang="en-US" sz="2200">
                <a:highlight>
                  <a:srgbClr val="FCFCFD"/>
                </a:highlight>
                <a:latin typeface="Times New Roman"/>
                <a:ea typeface="Times New Roman"/>
                <a:cs typeface="Times New Roman"/>
                <a:sym typeface="Times New Roman"/>
              </a:rPr>
              <a:t>Currently, the model uses GHI (Global Horizontal Irradiance) directly from NASA API as a fixed input — it does not account for how the sun's position in the sky changes throughout the day and across seasons. </a:t>
            </a:r>
            <a:endParaRPr sz="2200">
              <a:highlight>
                <a:srgbClr val="FCFCFD"/>
              </a:highlight>
              <a:latin typeface="Times New Roman"/>
              <a:ea typeface="Times New Roman"/>
              <a:cs typeface="Times New Roman"/>
              <a:sym typeface="Times New Roman"/>
            </a:endParaRPr>
          </a:p>
          <a:p>
            <a:pPr indent="0" lvl="0" marL="457200" rtl="0" algn="l">
              <a:lnSpc>
                <a:spcPct val="100000"/>
              </a:lnSpc>
              <a:spcBef>
                <a:spcPts val="1100"/>
              </a:spcBef>
              <a:spcAft>
                <a:spcPts val="0"/>
              </a:spcAft>
              <a:buNone/>
            </a:pPr>
            <a:r>
              <a:rPr lang="en-US" sz="2200">
                <a:highlight>
                  <a:srgbClr val="FCFCFD"/>
                </a:highlight>
                <a:latin typeface="Times New Roman"/>
                <a:ea typeface="Times New Roman"/>
                <a:cs typeface="Times New Roman"/>
                <a:sym typeface="Times New Roman"/>
              </a:rPr>
              <a:t>So we are planning to add solar geometry as well in our analysis.</a:t>
            </a:r>
            <a:endParaRPr sz="2200">
              <a:highlight>
                <a:srgbClr val="FCFCFD"/>
              </a:highlight>
              <a:latin typeface="Times New Roman"/>
              <a:ea typeface="Times New Roman"/>
              <a:cs typeface="Times New Roman"/>
              <a:sym typeface="Times New Roman"/>
            </a:endParaRPr>
          </a:p>
          <a:p>
            <a:pPr indent="-368300" lvl="0" marL="457200" rtl="0" algn="l">
              <a:lnSpc>
                <a:spcPct val="100000"/>
              </a:lnSpc>
              <a:spcBef>
                <a:spcPts val="1100"/>
              </a:spcBef>
              <a:spcAft>
                <a:spcPts val="1000"/>
              </a:spcAft>
              <a:buSzPts val="2200"/>
              <a:buFont typeface="Times New Roman"/>
              <a:buChar char="•"/>
            </a:pPr>
            <a:r>
              <a:rPr lang="en-US" sz="2200">
                <a:highlight>
                  <a:srgbClr val="FCFCFD"/>
                </a:highlight>
                <a:latin typeface="Times New Roman"/>
                <a:ea typeface="Times New Roman"/>
                <a:cs typeface="Times New Roman"/>
                <a:sym typeface="Times New Roman"/>
              </a:rPr>
              <a:t>Conference paper to be published in IEEE sponsored conference to be held in Greater Noida. </a:t>
            </a:r>
            <a:endParaRPr sz="2200">
              <a:highlight>
                <a:srgbClr val="FCFCFD"/>
              </a:highlight>
              <a:latin typeface="Times New Roman"/>
              <a:ea typeface="Times New Roman"/>
              <a:cs typeface="Times New Roman"/>
              <a:sym typeface="Times New Roman"/>
            </a:endParaRPr>
          </a:p>
        </p:txBody>
      </p:sp>
      <p:pic>
        <p:nvPicPr>
          <p:cNvPr id="241" name="Google Shape;241;g3c47b4ca430_0_0"/>
          <p:cNvPicPr preferRelativeResize="0"/>
          <p:nvPr/>
        </p:nvPicPr>
        <p:blipFill>
          <a:blip r:embed="rId3">
            <a:alphaModFix/>
          </a:blip>
          <a:stretch>
            <a:fillRect/>
          </a:stretch>
        </p:blipFill>
        <p:spPr>
          <a:xfrm>
            <a:off x="0" y="25725"/>
            <a:ext cx="12192000" cy="6858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8"/>
          <p:cNvSpPr txBox="1"/>
          <p:nvPr>
            <p:ph type="title"/>
          </p:nvPr>
        </p:nvSpPr>
        <p:spPr>
          <a:xfrm>
            <a:off x="838200" y="-84856"/>
            <a:ext cx="10515600" cy="92551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b="1" lang="en-US" u="sng">
                <a:latin typeface="Times New Roman"/>
                <a:ea typeface="Times New Roman"/>
                <a:cs typeface="Times New Roman"/>
                <a:sym typeface="Times New Roman"/>
              </a:rPr>
              <a:t>References</a:t>
            </a:r>
            <a:endParaRPr u="sng">
              <a:latin typeface="Times New Roman"/>
              <a:ea typeface="Times New Roman"/>
              <a:cs typeface="Times New Roman"/>
              <a:sym typeface="Times New Roman"/>
            </a:endParaRPr>
          </a:p>
        </p:txBody>
      </p:sp>
      <p:sp>
        <p:nvSpPr>
          <p:cNvPr id="247" name="Google Shape;247;p18"/>
          <p:cNvSpPr txBox="1"/>
          <p:nvPr>
            <p:ph idx="1" type="body"/>
          </p:nvPr>
        </p:nvSpPr>
        <p:spPr>
          <a:xfrm>
            <a:off x="972240" y="672357"/>
            <a:ext cx="10515600" cy="5513285"/>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1800"/>
              <a:buFont typeface="Arial"/>
              <a:buNone/>
            </a:pPr>
            <a:r>
              <a:t/>
            </a:r>
            <a:endParaRPr sz="1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1800"/>
              <a:buNone/>
            </a:pPr>
            <a:r>
              <a:rPr b="1" lang="en-US" sz="1800">
                <a:latin typeface="Times New Roman"/>
                <a:ea typeface="Times New Roman"/>
                <a:cs typeface="Times New Roman"/>
                <a:sym typeface="Times New Roman"/>
              </a:rPr>
              <a:t>[1] </a:t>
            </a:r>
            <a:r>
              <a:rPr lang="en-US" sz="1800">
                <a:latin typeface="Times New Roman"/>
                <a:ea typeface="Times New Roman"/>
                <a:cs typeface="Times New Roman"/>
                <a:sym typeface="Times New Roman"/>
              </a:rPr>
              <a:t>F. Dincer and E. Ozer, "Optimization of Rear-Side Energy Contribution in Bifacial PV Panels: A Parametric Analysis on Albedo, Tilt, Height, and Mounting Configuration," </a:t>
            </a:r>
            <a:r>
              <a:rPr i="1" lang="en-US" sz="1800">
                <a:latin typeface="Times New Roman"/>
                <a:ea typeface="Times New Roman"/>
                <a:cs typeface="Times New Roman"/>
                <a:sym typeface="Times New Roman"/>
              </a:rPr>
              <a:t>Energies</a:t>
            </a:r>
            <a:r>
              <a:rPr lang="en-US" sz="1800">
                <a:latin typeface="Times New Roman"/>
                <a:ea typeface="Times New Roman"/>
                <a:cs typeface="Times New Roman"/>
                <a:sym typeface="Times New Roman"/>
              </a:rPr>
              <a:t>, vol. 18, p. 4443, 2025</a:t>
            </a:r>
            <a:r>
              <a:rPr lang="en-US" sz="1100">
                <a:latin typeface="Arial"/>
                <a:ea typeface="Arial"/>
                <a:cs typeface="Arial"/>
                <a:sym typeface="Arial"/>
              </a:rPr>
              <a:t>.</a:t>
            </a:r>
            <a:endParaRPr sz="1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1800"/>
              <a:buNone/>
            </a:pPr>
            <a:r>
              <a:rPr b="1" lang="en-US" sz="1800">
                <a:latin typeface="Times New Roman"/>
                <a:ea typeface="Times New Roman"/>
                <a:cs typeface="Times New Roman"/>
                <a:sym typeface="Times New Roman"/>
              </a:rPr>
              <a:t>[2]</a:t>
            </a:r>
            <a:r>
              <a:rPr lang="en-US" sz="1800">
                <a:latin typeface="Times New Roman"/>
                <a:ea typeface="Times New Roman"/>
                <a:cs typeface="Times New Roman"/>
                <a:sym typeface="Times New Roman"/>
              </a:rPr>
              <a:t> A. A. F. Husain, W. Z. W. Hasan, S. Shafie, M. N. Hamidon, and S. S. Pandey, </a:t>
            </a:r>
            <a:r>
              <a:rPr i="1" lang="en-US" sz="1800">
                <a:latin typeface="Times New Roman"/>
                <a:ea typeface="Times New Roman"/>
                <a:cs typeface="Times New Roman"/>
                <a:sym typeface="Times New Roman"/>
              </a:rPr>
              <a:t>“A review of transparent solar photovoltaic technologies,”</a:t>
            </a:r>
            <a:r>
              <a:rPr lang="en-US" sz="1800">
                <a:latin typeface="Times New Roman"/>
                <a:ea typeface="Times New Roman"/>
                <a:cs typeface="Times New Roman"/>
                <a:sym typeface="Times New Roman"/>
              </a:rPr>
              <a:t> Renewable and Sustainable Energy Reviews, vol. 94, pp. 779–791, 2018</a:t>
            </a:r>
            <a:endParaRPr/>
          </a:p>
          <a:p>
            <a:pPr indent="0" lvl="0" marL="0" rtl="0" algn="just">
              <a:lnSpc>
                <a:spcPct val="90000"/>
              </a:lnSpc>
              <a:spcBef>
                <a:spcPts val="1000"/>
              </a:spcBef>
              <a:spcAft>
                <a:spcPts val="0"/>
              </a:spcAft>
              <a:buClr>
                <a:schemeClr val="dk1"/>
              </a:buClr>
              <a:buSzPts val="1800"/>
              <a:buNone/>
            </a:pPr>
            <a:r>
              <a:rPr b="1" lang="en-US" sz="1800">
                <a:latin typeface="Times New Roman"/>
                <a:ea typeface="Times New Roman"/>
                <a:cs typeface="Times New Roman"/>
                <a:sym typeface="Times New Roman"/>
              </a:rPr>
              <a:t>[3]</a:t>
            </a:r>
            <a:r>
              <a:rPr lang="en-US" sz="1800">
                <a:latin typeface="Times New Roman"/>
                <a:ea typeface="Times New Roman"/>
                <a:cs typeface="Times New Roman"/>
                <a:sym typeface="Times New Roman"/>
              </a:rPr>
              <a:t> R. R. Lunt and V. Bulović, </a:t>
            </a:r>
            <a:r>
              <a:rPr i="1" lang="en-US" sz="1800">
                <a:latin typeface="Times New Roman"/>
                <a:ea typeface="Times New Roman"/>
                <a:cs typeface="Times New Roman"/>
                <a:sym typeface="Times New Roman"/>
              </a:rPr>
              <a:t>“Transparent, near-infrared organic photovoltaic solar cells for window and energy-scavenging applications,”</a:t>
            </a:r>
            <a:r>
              <a:rPr lang="en-US" sz="1800">
                <a:latin typeface="Times New Roman"/>
                <a:ea typeface="Times New Roman"/>
                <a:cs typeface="Times New Roman"/>
                <a:sym typeface="Times New Roman"/>
              </a:rPr>
              <a:t> Appl. Phys. Lett., vol. 98, no. 11, p. 113305, Mar. 2011</a:t>
            </a:r>
            <a:endParaRPr/>
          </a:p>
          <a:p>
            <a:pPr indent="0" lvl="0" marL="0" rtl="0" algn="just">
              <a:lnSpc>
                <a:spcPct val="90000"/>
              </a:lnSpc>
              <a:spcBef>
                <a:spcPts val="1000"/>
              </a:spcBef>
              <a:spcAft>
                <a:spcPts val="0"/>
              </a:spcAft>
              <a:buClr>
                <a:schemeClr val="dk1"/>
              </a:buClr>
              <a:buSzPts val="1800"/>
              <a:buNone/>
            </a:pPr>
            <a:r>
              <a:rPr b="1" lang="en-US" sz="1800">
                <a:latin typeface="Times New Roman"/>
                <a:ea typeface="Times New Roman"/>
                <a:cs typeface="Times New Roman"/>
                <a:sym typeface="Times New Roman"/>
              </a:rPr>
              <a:t>[4]</a:t>
            </a:r>
            <a:r>
              <a:rPr lang="en-US" sz="1800">
                <a:latin typeface="Times New Roman"/>
                <a:ea typeface="Times New Roman"/>
                <a:cs typeface="Times New Roman"/>
                <a:sym typeface="Times New Roman"/>
              </a:rPr>
              <a:t> H. Gholami, H. N. Røstvik, and D. Müller-Eie, </a:t>
            </a:r>
            <a:r>
              <a:rPr i="1" lang="en-US" sz="1800">
                <a:latin typeface="Times New Roman"/>
                <a:ea typeface="Times New Roman"/>
                <a:cs typeface="Times New Roman"/>
                <a:sym typeface="Times New Roman"/>
              </a:rPr>
              <a:t>“Holistic economic analysis of building integrated photovoltaics (BIPV) system: Case studies evaluation,”</a:t>
            </a:r>
            <a:r>
              <a:rPr lang="en-US" sz="1800">
                <a:latin typeface="Times New Roman"/>
                <a:ea typeface="Times New Roman"/>
                <a:cs typeface="Times New Roman"/>
                <a:sym typeface="Times New Roman"/>
              </a:rPr>
              <a:t> Energy and Buildings, vol. 203, art. 109461, Oct. 2019</a:t>
            </a:r>
            <a:endParaRPr/>
          </a:p>
          <a:p>
            <a:pPr indent="0" lvl="0" marL="0" rtl="0" algn="just">
              <a:lnSpc>
                <a:spcPct val="90000"/>
              </a:lnSpc>
              <a:spcBef>
                <a:spcPts val="1000"/>
              </a:spcBef>
              <a:spcAft>
                <a:spcPts val="0"/>
              </a:spcAft>
              <a:buClr>
                <a:schemeClr val="dk1"/>
              </a:buClr>
              <a:buSzPts val="1800"/>
              <a:buNone/>
            </a:pPr>
            <a:r>
              <a:rPr b="1" lang="en-US" sz="1800">
                <a:latin typeface="Times New Roman"/>
                <a:ea typeface="Times New Roman"/>
                <a:cs typeface="Times New Roman"/>
                <a:sym typeface="Times New Roman"/>
              </a:rPr>
              <a:t>[5]</a:t>
            </a:r>
            <a:r>
              <a:rPr lang="en-US" sz="1800">
                <a:latin typeface="Times New Roman"/>
                <a:ea typeface="Times New Roman"/>
                <a:cs typeface="Times New Roman"/>
                <a:sym typeface="Times New Roman"/>
              </a:rPr>
              <a:t> A. M. Shirazi, Z. S. Zomorodian, and M. Tahsildoost, </a:t>
            </a:r>
            <a:r>
              <a:rPr i="1" lang="en-US" sz="1800">
                <a:latin typeface="Times New Roman"/>
                <a:ea typeface="Times New Roman"/>
                <a:cs typeface="Times New Roman"/>
                <a:sym typeface="Times New Roman"/>
              </a:rPr>
              <a:t>“Techno-economic BIPV evaluation method in urban areas,”</a:t>
            </a:r>
            <a:r>
              <a:rPr lang="en-US" sz="1800">
                <a:latin typeface="Times New Roman"/>
                <a:ea typeface="Times New Roman"/>
                <a:cs typeface="Times New Roman"/>
                <a:sym typeface="Times New Roman"/>
              </a:rPr>
              <a:t> Renewable Energy, vol. 143, pp. 1235–1246, Dec. 2019</a:t>
            </a:r>
            <a:endParaRPr/>
          </a:p>
          <a:p>
            <a:pPr indent="0" lvl="0" marL="0" rtl="0" algn="just">
              <a:lnSpc>
                <a:spcPct val="90000"/>
              </a:lnSpc>
              <a:spcBef>
                <a:spcPts val="1000"/>
              </a:spcBef>
              <a:spcAft>
                <a:spcPts val="0"/>
              </a:spcAft>
              <a:buClr>
                <a:schemeClr val="dk1"/>
              </a:buClr>
              <a:buSzPts val="1800"/>
              <a:buNone/>
            </a:pPr>
            <a:r>
              <a:rPr b="1" lang="en-US" sz="1800">
                <a:latin typeface="Times New Roman"/>
                <a:ea typeface="Times New Roman"/>
                <a:cs typeface="Times New Roman"/>
                <a:sym typeface="Times New Roman"/>
              </a:rPr>
              <a:t>[6] </a:t>
            </a:r>
            <a:r>
              <a:rPr lang="en-US" sz="1800">
                <a:latin typeface="Times New Roman"/>
                <a:ea typeface="Times New Roman"/>
                <a:cs typeface="Times New Roman"/>
                <a:sym typeface="Times New Roman"/>
              </a:rPr>
              <a:t>W. Gu, T. Ma, S. Ahmed, Y. Zhang, and J. Peng, </a:t>
            </a:r>
            <a:r>
              <a:rPr i="1" lang="en-US" sz="1800">
                <a:latin typeface="Times New Roman"/>
                <a:ea typeface="Times New Roman"/>
                <a:cs typeface="Times New Roman"/>
                <a:sym typeface="Times New Roman"/>
              </a:rPr>
              <a:t>“A comprehensive review and outlook of bifacial photovoltaic (bPV) technology,”</a:t>
            </a:r>
            <a:r>
              <a:rPr lang="en-US" sz="1800">
                <a:latin typeface="Times New Roman"/>
                <a:ea typeface="Times New Roman"/>
                <a:cs typeface="Times New Roman"/>
                <a:sym typeface="Times New Roman"/>
              </a:rPr>
              <a:t> Energy Conversion and Management, vol. 223, art. 113283, Nov. 2020</a:t>
            </a:r>
            <a:endParaRPr sz="18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800"/>
              <a:buNone/>
            </a:pPr>
            <a:r>
              <a:rPr b="1" lang="en-US" sz="1800">
                <a:latin typeface="Times New Roman"/>
                <a:ea typeface="Times New Roman"/>
                <a:cs typeface="Times New Roman"/>
                <a:sym typeface="Times New Roman"/>
              </a:rPr>
              <a:t>[7] </a:t>
            </a:r>
            <a:r>
              <a:rPr lang="en-US" sz="1800">
                <a:latin typeface="Times New Roman"/>
                <a:ea typeface="Times New Roman"/>
                <a:cs typeface="Times New Roman"/>
                <a:sym typeface="Times New Roman"/>
              </a:rPr>
              <a:t>K. Lee, H.-D. Um, D. Choi, J. Park, N. Kim, H. Kim, and K. Seo, </a:t>
            </a:r>
            <a:r>
              <a:rPr i="1" lang="en-US" sz="1800">
                <a:latin typeface="Times New Roman"/>
                <a:ea typeface="Times New Roman"/>
                <a:cs typeface="Times New Roman"/>
                <a:sym typeface="Times New Roman"/>
              </a:rPr>
              <a:t>“The Development of Transparent Photovoltaics,”</a:t>
            </a:r>
            <a:r>
              <a:rPr lang="en-US" sz="1800">
                <a:latin typeface="Times New Roman"/>
                <a:ea typeface="Times New Roman"/>
                <a:cs typeface="Times New Roman"/>
                <a:sym typeface="Times New Roman"/>
              </a:rPr>
              <a:t> Cell Reports Physical Science, vol. 1, no. 8, art. 100143, Aug. 2020</a:t>
            </a:r>
            <a:endParaRPr sz="18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800"/>
              <a:buNone/>
            </a:pPr>
            <a:r>
              <a:rPr b="1" lang="en-US" sz="1800"/>
              <a:t>[8]</a:t>
            </a:r>
            <a:r>
              <a:rPr lang="en-US" sz="1800"/>
              <a:t> B. Yu, D. Song, Z. Sun, K. Liu, Y. Zhang, D. Rong, and L. Liu, </a:t>
            </a:r>
            <a:r>
              <a:rPr i="1" lang="en-US" sz="1800"/>
              <a:t>“A study on electrical performance of N-type bifacial PV modules,”</a:t>
            </a:r>
            <a:r>
              <a:rPr lang="en-US" sz="1800"/>
              <a:t> Solar Energy, vol. 137, pp. 129–133, Nov. 2016</a:t>
            </a:r>
            <a:endParaRPr sz="1800"/>
          </a:p>
          <a:p>
            <a:pPr indent="0" lvl="0" marL="0" rtl="0" algn="l">
              <a:lnSpc>
                <a:spcPct val="10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600"/>
              <a:buNone/>
            </a:pPr>
            <a:br>
              <a:rPr lang="en-US" sz="16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228600" lvl="0" marL="228600" rtl="0" algn="l">
              <a:lnSpc>
                <a:spcPct val="10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p:txBody>
      </p:sp>
      <p:sp>
        <p:nvSpPr>
          <p:cNvPr id="248" name="Google Shape;24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49" name="Google Shape;249;p18"/>
          <p:cNvPicPr preferRelativeResize="0"/>
          <p:nvPr/>
        </p:nvPicPr>
        <p:blipFill rotWithShape="1">
          <a:blip r:embed="rId3">
            <a:alphaModFix/>
          </a:blip>
          <a:srcRect b="0" l="0" r="0" t="0"/>
          <a:stretch/>
        </p:blipFill>
        <p:spPr>
          <a:xfrm>
            <a:off x="11355439" y="34719"/>
            <a:ext cx="805938" cy="80593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9"/>
          <p:cNvSpPr txBox="1"/>
          <p:nvPr>
            <p:ph type="title"/>
          </p:nvPr>
        </p:nvSpPr>
        <p:spPr>
          <a:xfrm>
            <a:off x="838200" y="-225094"/>
            <a:ext cx="105156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b="1" lang="en-US" u="sng">
                <a:latin typeface="Times New Roman"/>
                <a:ea typeface="Times New Roman"/>
                <a:cs typeface="Times New Roman"/>
                <a:sym typeface="Times New Roman"/>
              </a:rPr>
              <a:t>References</a:t>
            </a:r>
            <a:endParaRPr u="sng">
              <a:latin typeface="Times New Roman"/>
              <a:ea typeface="Times New Roman"/>
              <a:cs typeface="Times New Roman"/>
              <a:sym typeface="Times New Roman"/>
            </a:endParaRPr>
          </a:p>
        </p:txBody>
      </p:sp>
      <p:sp>
        <p:nvSpPr>
          <p:cNvPr id="255" name="Google Shape;255;p19"/>
          <p:cNvSpPr txBox="1"/>
          <p:nvPr>
            <p:ph idx="1" type="body"/>
          </p:nvPr>
        </p:nvSpPr>
        <p:spPr>
          <a:xfrm>
            <a:off x="838200" y="1009548"/>
            <a:ext cx="10515600"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b="1" lang="en-US" sz="1800">
                <a:latin typeface="Times New Roman"/>
                <a:ea typeface="Times New Roman"/>
                <a:cs typeface="Times New Roman"/>
                <a:sym typeface="Times New Roman"/>
              </a:rPr>
              <a:t>[9] </a:t>
            </a:r>
            <a:r>
              <a:rPr lang="en-US" sz="1800">
                <a:latin typeface="Times New Roman"/>
                <a:ea typeface="Times New Roman"/>
                <a:cs typeface="Times New Roman"/>
                <a:sym typeface="Times New Roman"/>
              </a:rPr>
              <a:t>A. Desai, I. Mukhopadhyay, and A. Ray, </a:t>
            </a:r>
            <a:r>
              <a:rPr i="1" lang="en-US" sz="1800">
                <a:latin typeface="Times New Roman"/>
                <a:ea typeface="Times New Roman"/>
                <a:cs typeface="Times New Roman"/>
                <a:sym typeface="Times New Roman"/>
              </a:rPr>
              <a:t>“Feasibility Assessment of Bifacial Rooftop Photovoltaic Systems in the State of Gujarat in India,”</a:t>
            </a:r>
            <a:r>
              <a:rPr lang="en-US" sz="1800">
                <a:latin typeface="Times New Roman"/>
                <a:ea typeface="Times New Roman"/>
                <a:cs typeface="Times New Roman"/>
                <a:sym typeface="Times New Roman"/>
              </a:rPr>
              <a:t> Frontiers in Energy Research, vol. 10, art. 869890, 28 Jun. 2022</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rPr b="1" lang="en-US" sz="1800">
                <a:latin typeface="Times New Roman"/>
                <a:ea typeface="Times New Roman"/>
                <a:cs typeface="Times New Roman"/>
                <a:sym typeface="Times New Roman"/>
              </a:rPr>
              <a:t>[10] </a:t>
            </a:r>
            <a:r>
              <a:rPr lang="en-US" sz="1800">
                <a:latin typeface="Times New Roman"/>
                <a:ea typeface="Times New Roman"/>
                <a:cs typeface="Times New Roman"/>
                <a:sym typeface="Times New Roman"/>
              </a:rPr>
              <a:t>A. H. A. Al-Waeli, K. Sopian, H. A. Kazem, and M. T. Chaichan, </a:t>
            </a:r>
            <a:r>
              <a:rPr i="1" lang="en-US" sz="1800">
                <a:latin typeface="Times New Roman"/>
                <a:ea typeface="Times New Roman"/>
                <a:cs typeface="Times New Roman"/>
                <a:sym typeface="Times New Roman"/>
              </a:rPr>
              <a:t>“Photovoltaic/Thermal (PV/T) systems: Status and future prospects,”</a:t>
            </a:r>
            <a:r>
              <a:rPr lang="en-US" sz="1800">
                <a:latin typeface="Times New Roman"/>
                <a:ea typeface="Times New Roman"/>
                <a:cs typeface="Times New Roman"/>
                <a:sym typeface="Times New Roman"/>
              </a:rPr>
              <a:t> Renewable and Sustainable Energy Reviews, vol. 77, pp. 109–130, Sep. 2017</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1800">
                <a:latin typeface="Times New Roman"/>
                <a:ea typeface="Times New Roman"/>
                <a:cs typeface="Times New Roman"/>
                <a:sym typeface="Times New Roman"/>
              </a:rPr>
              <a:t>[</a:t>
            </a:r>
            <a:r>
              <a:rPr b="1" lang="en-US" sz="1800">
                <a:latin typeface="Times New Roman"/>
                <a:ea typeface="Times New Roman"/>
                <a:cs typeface="Times New Roman"/>
                <a:sym typeface="Times New Roman"/>
              </a:rPr>
              <a:t>11</a:t>
            </a:r>
            <a:r>
              <a:rPr lang="en-US" sz="1800">
                <a:latin typeface="Times New Roman"/>
                <a:ea typeface="Times New Roman"/>
                <a:cs typeface="Times New Roman"/>
                <a:sym typeface="Times New Roman"/>
              </a:rPr>
              <a:t>] S. Ghafiri, M. Darnon, A. Davigny, J. P. F. Trovão, and D. Abbes, “</a:t>
            </a:r>
            <a:r>
              <a:rPr i="1" lang="en-US" sz="1800">
                <a:latin typeface="Times New Roman"/>
                <a:ea typeface="Times New Roman"/>
                <a:cs typeface="Times New Roman"/>
                <a:sym typeface="Times New Roman"/>
              </a:rPr>
              <a:t>A comprehensive performance evaluation of bifacial photovoltaic modules: insights from a year-long experimental study conducted in the Canadian climate</a:t>
            </a:r>
            <a:r>
              <a:rPr lang="en-US" sz="1800">
                <a:latin typeface="Times New Roman"/>
                <a:ea typeface="Times New Roman"/>
                <a:cs typeface="Times New Roman"/>
                <a:sym typeface="Times New Roman"/>
              </a:rPr>
              <a:t>” </a:t>
            </a:r>
            <a:r>
              <a:rPr i="1" lang="en-US" sz="1800">
                <a:latin typeface="Times New Roman"/>
                <a:ea typeface="Times New Roman"/>
                <a:cs typeface="Times New Roman"/>
                <a:sym typeface="Times New Roman"/>
              </a:rPr>
              <a:t>EPJ Photovoltaics</a:t>
            </a:r>
            <a:r>
              <a:rPr lang="en-US" sz="1800">
                <a:latin typeface="Times New Roman"/>
                <a:ea typeface="Times New Roman"/>
                <a:cs typeface="Times New Roman"/>
                <a:sym typeface="Times New Roman"/>
              </a:rPr>
              <a:t>, vol. 15, p. 28, Jan. 2024</a:t>
            </a:r>
            <a:endParaRPr sz="18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1800">
                <a:latin typeface="Times New Roman"/>
                <a:ea typeface="Times New Roman"/>
                <a:cs typeface="Times New Roman"/>
                <a:sym typeface="Times New Roman"/>
              </a:rPr>
              <a:t>[</a:t>
            </a:r>
            <a:r>
              <a:rPr b="1" lang="en-US" sz="1800">
                <a:latin typeface="Times New Roman"/>
                <a:ea typeface="Times New Roman"/>
                <a:cs typeface="Times New Roman"/>
                <a:sym typeface="Times New Roman"/>
              </a:rPr>
              <a:t>12</a:t>
            </a:r>
            <a:r>
              <a:rPr lang="en-US" sz="1800">
                <a:latin typeface="Times New Roman"/>
                <a:ea typeface="Times New Roman"/>
                <a:cs typeface="Times New Roman"/>
                <a:sym typeface="Times New Roman"/>
              </a:rPr>
              <a:t>] J. Jang, A. Pfreundt, M. Mittag, and K. Lee, “</a:t>
            </a:r>
            <a:r>
              <a:rPr i="1" lang="en-US" sz="1800">
                <a:latin typeface="Times New Roman"/>
                <a:ea typeface="Times New Roman"/>
                <a:cs typeface="Times New Roman"/>
                <a:sym typeface="Times New Roman"/>
              </a:rPr>
              <a:t>Performance analysis of bifacial PV modules with transparent mesh backsheet</a:t>
            </a:r>
            <a:r>
              <a:rPr lang="en-US" sz="1800">
                <a:latin typeface="Times New Roman"/>
                <a:ea typeface="Times New Roman"/>
                <a:cs typeface="Times New Roman"/>
                <a:sym typeface="Times New Roman"/>
              </a:rPr>
              <a:t>” </a:t>
            </a:r>
            <a:r>
              <a:rPr i="1" lang="en-US" sz="1800">
                <a:latin typeface="Times New Roman"/>
                <a:ea typeface="Times New Roman"/>
                <a:cs typeface="Times New Roman"/>
                <a:sym typeface="Times New Roman"/>
              </a:rPr>
              <a:t>Energies</a:t>
            </a:r>
            <a:r>
              <a:rPr lang="en-US" sz="1800">
                <a:latin typeface="Times New Roman"/>
                <a:ea typeface="Times New Roman"/>
                <a:cs typeface="Times New Roman"/>
                <a:sym typeface="Times New Roman"/>
              </a:rPr>
              <a:t>, vol. 14, no. 5, Art. no. 1399, Mar. 2021</a:t>
            </a:r>
            <a:endParaRPr sz="18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None/>
            </a:pPr>
            <a:r>
              <a:rPr lang="en-US" sz="1800">
                <a:latin typeface="Times New Roman"/>
                <a:ea typeface="Times New Roman"/>
                <a:cs typeface="Times New Roman"/>
                <a:sym typeface="Times New Roman"/>
              </a:rPr>
              <a:t>[</a:t>
            </a:r>
            <a:r>
              <a:rPr b="1" lang="en-US" sz="1800">
                <a:latin typeface="Times New Roman"/>
                <a:ea typeface="Times New Roman"/>
                <a:cs typeface="Times New Roman"/>
                <a:sym typeface="Times New Roman"/>
              </a:rPr>
              <a:t>13</a:t>
            </a:r>
            <a:r>
              <a:rPr lang="en-US" sz="1800">
                <a:latin typeface="Times New Roman"/>
                <a:ea typeface="Times New Roman"/>
                <a:cs typeface="Times New Roman"/>
                <a:sym typeface="Times New Roman"/>
              </a:rPr>
              <a:t>] R. O. Yakubu, L. D. Mensah, D. A. Quansah, and M. S. Adaramola, “</a:t>
            </a:r>
            <a:r>
              <a:rPr i="1" lang="en-US" sz="1800">
                <a:latin typeface="Times New Roman"/>
                <a:ea typeface="Times New Roman"/>
                <a:cs typeface="Times New Roman"/>
                <a:sym typeface="Times New Roman"/>
              </a:rPr>
              <a:t>A systematic literature review of the bifacial photovoltaic module and its applications</a:t>
            </a:r>
            <a:r>
              <a:rPr lang="en-US" sz="1800">
                <a:latin typeface="Times New Roman"/>
                <a:ea typeface="Times New Roman"/>
                <a:cs typeface="Times New Roman"/>
                <a:sym typeface="Times New Roman"/>
              </a:rPr>
              <a:t>” </a:t>
            </a:r>
            <a:r>
              <a:rPr i="1" lang="en-US" sz="1800">
                <a:latin typeface="Times New Roman"/>
                <a:ea typeface="Times New Roman"/>
                <a:cs typeface="Times New Roman"/>
                <a:sym typeface="Times New Roman"/>
              </a:rPr>
              <a:t>The Journal of Engineering</a:t>
            </a:r>
            <a:r>
              <a:rPr lang="en-US" sz="1800">
                <a:latin typeface="Times New Roman"/>
                <a:ea typeface="Times New Roman"/>
                <a:cs typeface="Times New Roman"/>
                <a:sym typeface="Times New Roman"/>
              </a:rPr>
              <a:t>, vol. 2024, no. 8, Aug. 2024</a:t>
            </a:r>
            <a:endParaRPr b="1" sz="1800">
              <a:latin typeface="Times New Roman"/>
              <a:ea typeface="Times New Roman"/>
              <a:cs typeface="Times New Roman"/>
              <a:sym typeface="Times New Roman"/>
            </a:endParaRPr>
          </a:p>
          <a:p>
            <a:pPr indent="0" lvl="0" marL="0" rtl="0" algn="l">
              <a:lnSpc>
                <a:spcPct val="90000"/>
              </a:lnSpc>
              <a:spcBef>
                <a:spcPts val="1200"/>
              </a:spcBef>
              <a:spcAft>
                <a:spcPts val="0"/>
              </a:spcAft>
              <a:buClr>
                <a:schemeClr val="dk1"/>
              </a:buClr>
              <a:buSzPts val="1800"/>
              <a:buNone/>
            </a:pPr>
            <a:r>
              <a:t/>
            </a:r>
            <a:endParaRPr sz="1800">
              <a:latin typeface="Calibri"/>
              <a:ea typeface="Calibri"/>
              <a:cs typeface="Calibri"/>
              <a:sym typeface="Calibri"/>
            </a:endParaRPr>
          </a:p>
          <a:p>
            <a:pPr indent="0" lvl="0" marL="0" rtl="0" algn="l">
              <a:lnSpc>
                <a:spcPct val="90000"/>
              </a:lnSpc>
              <a:spcBef>
                <a:spcPts val="1000"/>
              </a:spcBef>
              <a:spcAft>
                <a:spcPts val="0"/>
              </a:spcAft>
              <a:buClr>
                <a:schemeClr val="dk1"/>
              </a:buClr>
              <a:buSzPts val="1800"/>
              <a:buNone/>
            </a:pPr>
            <a:r>
              <a:t/>
            </a:r>
            <a:endParaRPr sz="1800">
              <a:latin typeface="Calibri"/>
              <a:ea typeface="Calibri"/>
              <a:cs typeface="Calibri"/>
              <a:sym typeface="Calibri"/>
            </a:endParaRPr>
          </a:p>
        </p:txBody>
      </p:sp>
      <p:sp>
        <p:nvSpPr>
          <p:cNvPr id="256" name="Google Shape;256;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A red circle with text&#10;&#10;AI-generated content may be incorrect." id="257" name="Google Shape;257;p19"/>
          <p:cNvPicPr preferRelativeResize="0"/>
          <p:nvPr/>
        </p:nvPicPr>
        <p:blipFill rotWithShape="1">
          <a:blip r:embed="rId3">
            <a:alphaModFix/>
          </a:blip>
          <a:srcRect b="0" l="0" r="0" t="0"/>
          <a:stretch/>
        </p:blipFill>
        <p:spPr>
          <a:xfrm>
            <a:off x="11355439" y="34719"/>
            <a:ext cx="805938" cy="80593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None/>
            </a:pPr>
            <a:r>
              <a:rPr lang="en-US">
                <a:latin typeface="Times New Roman"/>
                <a:ea typeface="Times New Roman"/>
                <a:cs typeface="Times New Roman"/>
                <a:sym typeface="Times New Roman"/>
              </a:rPr>
              <a:t>Thank You.</a:t>
            </a:r>
            <a:endParaRPr/>
          </a:p>
        </p:txBody>
      </p:sp>
      <p:sp>
        <p:nvSpPr>
          <p:cNvPr id="263" name="Google Shape;26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64" name="Google Shape;264;p20"/>
          <p:cNvGraphicFramePr/>
          <p:nvPr/>
        </p:nvGraphicFramePr>
        <p:xfrm>
          <a:off x="4342747" y="3772367"/>
          <a:ext cx="3000000" cy="3000000"/>
        </p:xfrm>
        <a:graphic>
          <a:graphicData uri="http://schemas.openxmlformats.org/drawingml/2006/table">
            <a:tbl>
              <a:tblPr bandRow="1" firstRow="1">
                <a:noFill/>
                <a:tableStyleId>{9EBC3D4C-6614-4744-B9CA-B337A5B29830}</a:tableStyleId>
              </a:tblPr>
              <a:tblGrid>
                <a:gridCol w="1566850"/>
                <a:gridCol w="4068775"/>
              </a:tblGrid>
              <a:tr h="370850">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2022UEE4532</a:t>
                      </a:r>
                      <a:endParaRPr/>
                    </a:p>
                  </a:txBody>
                  <a:tcPr marT="45725" marB="45725" marR="91425" marL="91425"/>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AMAN</a:t>
                      </a:r>
                      <a:endParaRPr/>
                    </a:p>
                  </a:txBody>
                  <a:tcPr marT="45725" marB="45725" marR="91425" marL="91425"/>
                </a:tc>
              </a:tr>
              <a:tr h="370850">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2022UEE4521</a:t>
                      </a:r>
                      <a:endParaRPr/>
                    </a:p>
                  </a:txBody>
                  <a:tcPr marT="45725" marB="45725" marR="91425" marL="91425"/>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ASHISH UPADHYAY</a:t>
                      </a:r>
                      <a:endParaRPr/>
                    </a:p>
                  </a:txBody>
                  <a:tcPr marT="45725" marB="45725" marR="91425" marL="91425"/>
                </a:tc>
              </a:tr>
              <a:tr h="370850">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2022UEE4586</a:t>
                      </a:r>
                      <a:endParaRPr/>
                    </a:p>
                  </a:txBody>
                  <a:tcPr marT="45725" marB="45725" marR="91425" marL="91425"/>
                </a:tc>
                <a:tc>
                  <a:txBody>
                    <a:bodyPr/>
                    <a:lstStyle/>
                    <a:p>
                      <a:pPr indent="0" lvl="0" marL="0" marR="0" rtl="0" algn="l">
                        <a:spcBef>
                          <a:spcPts val="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PRATYAI CHAKRABARTY</a:t>
                      </a:r>
                      <a:endParaRPr/>
                    </a:p>
                  </a:txBody>
                  <a:tcPr marT="45725" marB="45725" marR="91425" marL="91425"/>
                </a:tc>
              </a:tr>
              <a:tr h="370850">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2022UEE4503</a:t>
                      </a:r>
                      <a:endParaRPr/>
                    </a:p>
                  </a:txBody>
                  <a:tcPr marT="45725" marB="45725" marR="91425" marL="91425"/>
                </a:tc>
                <a:tc>
                  <a:txBody>
                    <a:bodyPr/>
                    <a:lstStyle/>
                    <a:p>
                      <a:pPr indent="0" lvl="0" marL="0" marR="0" rtl="0" algn="l">
                        <a:spcBef>
                          <a:spcPts val="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ADITYA GARG</a:t>
                      </a:r>
                      <a:endParaRPr/>
                    </a:p>
                  </a:txBody>
                  <a:tcPr marT="45725" marB="45725" marR="91425" marL="91425"/>
                </a:tc>
              </a:tr>
              <a:tr h="370850">
                <a:tc>
                  <a:txBody>
                    <a:bodyPr/>
                    <a:lstStyle/>
                    <a:p>
                      <a:pPr indent="0" lvl="0" marL="0" marR="0" rtl="0" algn="l">
                        <a:spcBef>
                          <a:spcPts val="0"/>
                        </a:spcBef>
                        <a:spcAft>
                          <a:spcPts val="0"/>
                        </a:spcAft>
                        <a:buNone/>
                      </a:pPr>
                      <a:r>
                        <a:t/>
                      </a:r>
                      <a:endParaRPr sz="1800"/>
                    </a:p>
                  </a:txBody>
                  <a:tcPr marT="45725" marB="45725" marR="91425" marL="91425"/>
                </a:tc>
                <a:tc>
                  <a:txBody>
                    <a:bodyPr/>
                    <a:lstStyle/>
                    <a:p>
                      <a:pPr indent="0" lvl="0" marL="0" marR="0" rtl="0" algn="l">
                        <a:spcBef>
                          <a:spcPts val="0"/>
                        </a:spcBef>
                        <a:spcAft>
                          <a:spcPts val="0"/>
                        </a:spcAft>
                        <a:buNone/>
                      </a:pPr>
                      <a:r>
                        <a:t/>
                      </a:r>
                      <a:endParaRPr sz="1800"/>
                    </a:p>
                  </a:txBody>
                  <a:tcPr marT="45725" marB="45725" marR="91425" marL="91425"/>
                </a:tc>
              </a:tr>
            </a:tbl>
          </a:graphicData>
        </a:graphic>
      </p:graphicFrame>
      <p:pic>
        <p:nvPicPr>
          <p:cNvPr id="265" name="Google Shape;265;p20"/>
          <p:cNvPicPr preferRelativeResize="0"/>
          <p:nvPr/>
        </p:nvPicPr>
        <p:blipFill rotWithShape="1">
          <a:blip r:embed="rId3">
            <a:alphaModFix/>
          </a:blip>
          <a:srcRect b="0" l="0" r="0" t="0"/>
          <a:stretch/>
        </p:blipFill>
        <p:spPr>
          <a:xfrm>
            <a:off x="5473700" y="293688"/>
            <a:ext cx="1244600" cy="1244600"/>
          </a:xfrm>
          <a:prstGeom prst="rect">
            <a:avLst/>
          </a:prstGeom>
          <a:noFill/>
          <a:ln>
            <a:noFill/>
          </a:ln>
        </p:spPr>
      </p:pic>
      <p:sp>
        <p:nvSpPr>
          <p:cNvPr id="266" name="Google Shape;266;p20"/>
          <p:cNvSpPr txBox="1"/>
          <p:nvPr/>
        </p:nvSpPr>
        <p:spPr>
          <a:xfrm>
            <a:off x="1524000" y="6308725"/>
            <a:ext cx="8696325" cy="51276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lang="en-US" sz="1200">
                <a:latin typeface="Calibri"/>
                <a:ea typeface="Calibri"/>
                <a:cs typeface="Calibri"/>
                <a:sym typeface="Calibri"/>
              </a:rPr>
              <a:t>Mid</a:t>
            </a:r>
            <a:r>
              <a:rPr b="1" lang="en-US" sz="1200">
                <a:solidFill>
                  <a:srgbClr val="000000"/>
                </a:solidFill>
                <a:latin typeface="Calibri"/>
                <a:ea typeface="Calibri"/>
                <a:cs typeface="Calibri"/>
                <a:sym typeface="Calibri"/>
              </a:rPr>
              <a:t> Term Review</a:t>
            </a:r>
            <a:endParaRPr/>
          </a:p>
          <a:p>
            <a:pPr indent="0" lvl="0" marL="0" marR="0" rtl="0" algn="ctr">
              <a:lnSpc>
                <a:spcPct val="100000"/>
              </a:lnSpc>
              <a:spcBef>
                <a:spcPts val="0"/>
              </a:spcBef>
              <a:spcAft>
                <a:spcPts val="0"/>
              </a:spcAft>
              <a:buClr>
                <a:srgbClr val="000000"/>
              </a:buClr>
              <a:buSzPts val="1200"/>
              <a:buFont typeface="Arial"/>
              <a:buNone/>
            </a:pPr>
            <a:r>
              <a:rPr b="1" lang="en-US" sz="1200">
                <a:solidFill>
                  <a:srgbClr val="000000"/>
                </a:solidFill>
                <a:latin typeface="Calibri"/>
                <a:ea typeface="Calibri"/>
                <a:cs typeface="Calibri"/>
                <a:sym typeface="Calibri"/>
              </a:rPr>
              <a:t> EEEEC2</a:t>
            </a:r>
            <a:r>
              <a:rPr b="1" lang="en-US" sz="1200">
                <a:latin typeface="Calibri"/>
                <a:ea typeface="Calibri"/>
                <a:cs typeface="Calibri"/>
                <a:sym typeface="Calibri"/>
              </a:rPr>
              <a:t>3</a:t>
            </a:r>
            <a:r>
              <a:rPr b="1" lang="en-US" sz="1200">
                <a:solidFill>
                  <a:srgbClr val="000000"/>
                </a:solidFill>
                <a:latin typeface="Calibri"/>
                <a:ea typeface="Calibri"/>
                <a:cs typeface="Calibri"/>
                <a:sym typeface="Calibri"/>
              </a:rPr>
              <a:t> B. Tech Project - II</a:t>
            </a:r>
            <a:endParaRPr b="1" sz="1200">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2024-09-18T06:57:51Z</dcterms:created>
  <dc:creator>Aditya Garg</dc:creator>
</cp:coreProperties>
</file>