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49A2A"/>
                </a:solidFill>
                <a:latin typeface="Inter"/>
              </a:rPr>
              <a:t>END-SEMESTER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nter"/>
              </a:rPr>
              <a:t>Optimal Configuration of Bifacial
Photovoltaic Modules Using
Parametric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Inter"/>
              </a:rPr>
              <a:t>B.Tech. Project | Department of Electrical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Inter"/>
              </a:rPr>
              <a:t>Ashish Upadhyay (2022UEE4521)   •   Pratyai Chakrabarty (2022UEE4586)
Aman (2022UEE4532)   •   Aditya Garg (2022UEE4503)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49A2A"/>
                </a:solidFill>
                <a:latin typeface="Inter"/>
              </a:rPr>
              <a:t>Supervisor: Dr. Astitva Kumar, Assistant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BBBB"/>
                </a:solidFill>
                <a:latin typeface="Inter"/>
              </a:rPr>
              <a:t>Netaji Subhas University of Technology (NSUT), New Delhi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01   Introduction &amp; Motivation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02   Literature Survey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03   Research Gaps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04   Problem Statement &amp; Objectives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05   Mathematical Formulation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06   Simulink Model &amp; Platform Architecture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07   Case Study: Greater Noida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08   Results &amp; Parametric Analysis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09   Validation with Literature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10   Conclusion &amp; Future Scope</a:t>
            </a:r>
            <a:r>
              <a:t/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FFFFFF"/>
                </a:solidFill>
                <a:latin typeface="Inter"/>
              </a:rPr>
              <a:t>  11   Publication &amp; References</a:t>
            </a: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Inter"/>
              </a:rPr>
              <a:t>[Insert Bifacial PV Diagram / Photo]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Solar PV: fastest-growing electricity source globally — 1,500+ GW installed by 2024 (IEA)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India targets 500 GW non-fossil capacity by 2030; receives ~5,000 TWh solar energy/year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Bifacial PV modules capture irradiance on both surfaces → 5–30% higher yield vs monofacial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First commercial bifacial panels: 1984 — projected to capture ~35% of global PV market by 2027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Rear-side performance depends critically on tilt angle, ground albedo, and mounting height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Improper parameter selection negates bifacial advantages → need for optimization frameworks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• Gap: No accessible, location-specific tool exists for combined parametric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Guerrero-Lemus et al. [7]:</a:t>
            </a:r>
            <a:r>
              <a:rPr sz="1800">
                <a:solidFill>
                  <a:srgbClr val="FFFFFF"/>
                </a:solidFill>
                <a:latin typeface="Inter"/>
              </a:rPr>
              <a:t> Comprehensive bifacial PV technology review; standardization needs identified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Yusufoglu et al. [2]:</a:t>
            </a:r>
            <a:r>
              <a:rPr sz="1800">
                <a:solidFill>
                  <a:srgbClr val="FFFFFF"/>
                </a:solidFill>
                <a:latin typeface="Inter"/>
              </a:rPr>
              <a:t> Annual energy yield analysis; up to 30% gain at 2m height; log-height dependence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Dincer &amp; Ozer [3]:</a:t>
            </a:r>
            <a:r>
              <a:rPr sz="1800">
                <a:solidFill>
                  <a:srgbClr val="FFFFFF"/>
                </a:solidFill>
                <a:latin typeface="Inter"/>
              </a:rPr>
              <a:t> Parametric analysis of albedo, tilt, height, mounting; 21.2% rear gain for aluminum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Sun et al. [10]:</a:t>
            </a:r>
            <a:r>
              <a:rPr sz="1800">
                <a:solidFill>
                  <a:srgbClr val="FFFFFF"/>
                </a:solidFill>
                <a:latin typeface="Inter"/>
              </a:rPr>
              <a:t> Global perspective; combined tilt-albedo-latitude optimization across locations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Ganesan et al. [4]:</a:t>
            </a:r>
            <a:r>
              <a:rPr sz="1800">
                <a:solidFill>
                  <a:srgbClr val="FFFFFF"/>
                </a:solidFill>
                <a:latin typeface="Inter"/>
              </a:rPr>
              <a:t> n-type PERT bifacial under 5 albedo surfaces; 21.4% avg gain with aluminum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Pelaez et al. [5]:</a:t>
            </a:r>
            <a:r>
              <a:rPr sz="1800">
                <a:solidFill>
                  <a:srgbClr val="FFFFFF"/>
                </a:solidFill>
                <a:latin typeface="Inter"/>
              </a:rPr>
              <a:t> Comparison of 5 irradiance models; ~20% bifacial gain validated against field data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Basak et al. [11]:</a:t>
            </a:r>
            <a:r>
              <a:rPr sz="1800">
                <a:solidFill>
                  <a:srgbClr val="FFFFFF"/>
                </a:solidFill>
                <a:latin typeface="Inter"/>
              </a:rPr>
              <a:t> Tilt optimization specific to bifacial; optimal tilt differs from monofacial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Research Gaps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1. Limited Combined Analysis —</a:t>
            </a:r>
            <a:r>
              <a:rPr sz="2000">
                <a:solidFill>
                  <a:srgbClr val="FFFFFF"/>
                </a:solidFill>
                <a:latin typeface="Inter"/>
              </a:rPr>
              <a:t> Studies evaluate tilt, albedo, height independently; combined interaction effects largely unexplored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2. Location-Specific Gap —</a:t>
            </a:r>
            <a:r>
              <a:rPr sz="2000">
                <a:solidFill>
                  <a:srgbClr val="FFFFFF"/>
                </a:solidFill>
                <a:latin typeface="Inter"/>
              </a:rPr>
              <a:t> Most studies limited to European/American climates; India-specific validation scarce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3. Accessibility Barrier —</a:t>
            </a:r>
            <a:r>
              <a:rPr sz="2000">
                <a:solidFill>
                  <a:srgbClr val="FFFFFF"/>
                </a:solidFill>
                <a:latin typeface="Inter"/>
              </a:rPr>
              <a:t> Optimization tools require PVsyst, SAM, or MATLAB licenses; inaccessible to many designers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4. Single Optimization Objective —</a:t>
            </a:r>
            <a:r>
              <a:rPr sz="2000">
                <a:solidFill>
                  <a:srgbClr val="FFFFFF"/>
                </a:solidFill>
                <a:latin typeface="Inter"/>
              </a:rPr>
              <a:t> Few frameworks consider dual objectives: max total energy vs. max rear-side gain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5. No Integrated Platform —</a:t>
            </a:r>
            <a:r>
              <a:rPr sz="2000">
                <a:solidFill>
                  <a:srgbClr val="FFFFFF"/>
                </a:solidFill>
                <a:latin typeface="Inter"/>
              </a:rPr>
              <a:t> No web-based tool combines real-time API data retrieval with parametric sweep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“How can the rear-side energy contribution and overall performance of bifacial PV systems be maximized by optimally selecting tilt angle, ground albedo, and mounting height for a given geographical location?”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9A2A"/>
                </a:solidFill>
                <a:latin typeface="Inter"/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Develop mathematical model for bifacial PV (front + rear irradiance with view factors)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Implement in MATLAB/Simulink for I-V and P-V characteristic simulation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Build web-based frontend platform with NASA POWER API integration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Perform parametric sweep to identify optimal configurations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• Validate framework through case study and literature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Mathematical Formulation — Front Irradiance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(1):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G_tot = G_front + G_rear</a:t>
            </a:r>
            <a:r>
              <a:rPr sz="1400">
                <a:solidFill>
                  <a:srgbClr val="BBBBBB"/>
                </a:solidFill>
                <a:latin typeface="Inter"/>
              </a:rPr>
              <a:t>
         Total effective irradiance on bifacial module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(2):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beam_tilted = DNI × max(0, cos θᵢ)</a:t>
            </a:r>
            <a:r>
              <a:rPr sz="1400">
                <a:solidFill>
                  <a:srgbClr val="BBBBBB"/>
                </a:solidFill>
                <a:latin typeface="Inter"/>
              </a:rPr>
              <a:t>
         Direct beam on tilted surface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(3):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sky_vf = (1 + cos β) / 2</a:t>
            </a:r>
            <a:r>
              <a:rPr sz="1400">
                <a:solidFill>
                  <a:srgbClr val="BBBBBB"/>
                </a:solidFill>
                <a:latin typeface="Inter"/>
              </a:rPr>
              <a:t>
         Sky view factor (Liu-Jordan model)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(4):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gnd_vf = (1 − cos β) / 2</a:t>
            </a:r>
            <a:r>
              <a:rPr sz="1400">
                <a:solidFill>
                  <a:srgbClr val="BBBBBB"/>
                </a:solidFill>
                <a:latin typeface="Inter"/>
              </a:rPr>
              <a:t>
         Ground view factor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Inter"/>
              </a:rPr>
              <a:t>Eq. (5):  </a:t>
            </a:r>
            <a:r>
              <a:rPr sz="2200" i="1">
                <a:solidFill>
                  <a:srgbClr val="FFFFFF"/>
                </a:solidFill>
                <a:latin typeface="Cambria Math"/>
              </a:rPr>
              <a:t>G_front = beam + DHI·sky_vf + GHI·ρ·gnd_vf</a:t>
            </a:r>
            <a:r>
              <a:rPr sz="1400">
                <a:solidFill>
                  <a:srgbClr val="BBBBBB"/>
                </a:solidFill>
                <a:latin typeface="Inter"/>
              </a:rPr>
              <a:t>
         Front irradiance: beam + diffuse + reflected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Mathematical Formulation — Rear Irradiance &amp; 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(6):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γ_prof = arctan(tan α_sun / cos(γ_sun − γ_panel))</a:t>
            </a:r>
            <a:r>
              <a:rPr sz="1300">
                <a:solidFill>
                  <a:srgbClr val="BBBBBB"/>
                </a:solidFill>
                <a:latin typeface="Inter"/>
              </a:rPr>
              <a:t>
         Solar profile angle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(7):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shadow_lower = h / tan(γ_prof)</a:t>
            </a:r>
            <a:r>
              <a:rPr sz="1300">
                <a:solidFill>
                  <a:srgbClr val="BBBBBB"/>
                </a:solidFill>
                <a:latin typeface="Inter"/>
              </a:rPr>
              <a:t>
         Lower shadow boundary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(8):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shadow_upper = (h+W·sinβ) / tan(γ_prof)</a:t>
            </a:r>
            <a:r>
              <a:rPr sz="1300">
                <a:solidFill>
                  <a:srgbClr val="BBBBBB"/>
                </a:solidFill>
                <a:latin typeface="Inter"/>
              </a:rPr>
              <a:t>
         Upper shadow boundary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(9):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F_V = ∫ cosθ₁·cosθ₂ / (2r) dx</a:t>
            </a:r>
            <a:r>
              <a:rPr sz="1300">
                <a:solidFill>
                  <a:srgbClr val="BBBBBB"/>
                </a:solidFill>
                <a:latin typeface="Inter"/>
              </a:rPr>
              <a:t>
         Shadow view factor (Simpson’s rule)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(10):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G_r0 = ρ·DHI·rear_vf + ρ·(GHI−DHI)·(rear_vf−F_V)</a:t>
            </a:r>
            <a:r>
              <a:rPr sz="1300">
                <a:solidFill>
                  <a:srgbClr val="BBBBBB"/>
                </a:solidFill>
                <a:latin typeface="Inter"/>
              </a:rPr>
              <a:t>
         Rear irradiance with shadow correction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C49A2A"/>
                </a:solidFill>
                <a:latin typeface="Inter"/>
              </a:rPr>
              <a:t>Eq. (11):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G_rear = G_r0 × φ_bifaciality</a:t>
            </a:r>
            <a:r>
              <a:rPr sz="1300">
                <a:solidFill>
                  <a:srgbClr val="BBBBBB"/>
                </a:solidFill>
                <a:latin typeface="Inter"/>
              </a:rPr>
              <a:t>
         Scaled by bifaciality factor (0.7)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Simulink Model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BBBB"/>
                </a:solidFill>
                <a:latin typeface="Inter"/>
              </a:rPr>
              <a:t>[Insert Simulink Model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calculate_irradiance MATLAB function
implements Equations (1)–(11)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PV Array block: single-diode model
550 Wp bifacial module, 72×2 half-cells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V_ramp sweep: 0V → Voc for complete
I-V / P-V characteristic curves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NOCT thermal model for cell
temperature derating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• Simpson’s rule numerical integration
for shadow view factor F_V (N=200)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Inter"/>
              </a:rPr>
              <a:t>Frontend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User Interface:</a:t>
            </a:r>
            <a:r>
              <a:rPr sz="1800">
                <a:solidFill>
                  <a:srgbClr val="FFFFFF"/>
                </a:solidFill>
                <a:latin typeface="Inter"/>
              </a:rPr>
              <a:t> City, date range, sweep parameters, albedo surface type, optimization objective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Backend (Node.js):</a:t>
            </a:r>
            <a:r>
              <a:rPr sz="1800">
                <a:solidFill>
                  <a:srgbClr val="FFFFFF"/>
                </a:solidFill>
                <a:latin typeface="Inter"/>
              </a:rPr>
              <a:t> Express server, API routing, input validation, parametric sweep coordination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NASA POWER API:</a:t>
            </a:r>
            <a:r>
              <a:rPr sz="1800">
                <a:solidFill>
                  <a:srgbClr val="FFFFFF"/>
                </a:solidFill>
                <a:latin typeface="Inter"/>
              </a:rPr>
              <a:t> Hourly GHI, DHI, DNI, temperature — any global location, 0.5° resolution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Analysis Engine:</a:t>
            </a:r>
            <a:r>
              <a:rPr sz="1800">
                <a:solidFill>
                  <a:srgbClr val="FFFFFF"/>
                </a:solidFill>
                <a:latin typeface="Inter"/>
              </a:rPr>
              <a:t> Erbs decomposition, Liu-Jordan transposition, view factor computation, I-V/P-V curves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49A2A"/>
                </a:solidFill>
                <a:latin typeface="Inter"/>
              </a:rPr>
              <a:t>▶ Results Dashboard:</a:t>
            </a:r>
            <a:r>
              <a:rPr sz="1800">
                <a:solidFill>
                  <a:srgbClr val="FFFFFF"/>
                </a:solidFill>
                <a:latin typeface="Inter"/>
              </a:rPr>
              <a:t> Optimal config tables, charts, individual parameter variation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Case Study: Greater Noida,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Location: 28.47°N, 77.50°E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Date: 13 March 2026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Height: 50–450 cm (step 50, 9 levels)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Tilt: 10°–50° (step 10°, 5 levels)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Albedo: 0.3 (Concrete surface)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Azimuth: 180° (South-facing)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Bifaciality factor: 0.7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Total GHI observed: 6.08 kWh/m²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Peak GHI: 866.53 W/m²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Inter"/>
              </a:rPr>
              <a:t>• 45 evaluation points (9 ×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BBBB"/>
                </a:solidFill>
                <a:latin typeface="Inter"/>
              </a:rPr>
              <a:t>[Insert Frontend Screenshot]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Results: Maximum Energy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9A2A"/>
                </a:solidFill>
                <a:latin typeface="Inter"/>
              </a:rPr>
              <a:t>Optimization Objective: Maximize Total Energy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Height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Tilt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Rear Gain (%)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3.16843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16.55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3.16570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15.61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3.16521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16.39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3.16258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15.45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3.16113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16.19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Optimal: 30° tilt, 450cm height → closely matches site latitude (28.47°N)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Top 5 differ by &lt; 0.25% in energy → robust performance near optimum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16.55% rear gain demonstrates significant bifacial advantage over monofacial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Results: Maximum Rear Gain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9A2A"/>
                </a:solidFill>
                <a:latin typeface="Inter"/>
              </a:rPr>
              <a:t>Optimization Objective: Maximize Rear-Side Contribution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Height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Tilt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Rear Gain (%)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2.99422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17.90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2.99130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17.76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2.98755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17.57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2.98258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17.33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3.11109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Max rear gain (17.90%) at 10° tilt — low tilt maximizes ground view factor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Trade-off: 5.5% lower total energy compared to max-energy configuration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Inter"/>
              </a:rPr>
              <a:t>✔ Dual optimization enables informed decision-making for system designers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I-V and P-V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BBBB"/>
                </a:solidFill>
                <a:latin typeface="Inter"/>
              </a:rPr>
              <a:t>[Insert I-V Curve Plot]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BBBBB"/>
                </a:solidFill>
                <a:latin typeface="Inter"/>
              </a:rPr>
              <a:t>[Insert P-V Curve Plot]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• Higher effective irradiance → higher Isc and peak power on I-V curve
• MPP shifts with installation configuration changes
• Voc relatively stable (logarithmic irradiance dependence)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Inter"/>
              </a:rPr>
              <a:t>Individual Parameter Variation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Inter"/>
              </a:rPr>
              <a:t>Albedo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Fixed: tilt=20°, h=100cm
• Aluminum (0.85): 24.72%
• Concrete (0.30): ~12%
• Asphalt (0.12): &lt; 5%
• Near-linear relationship
• Most influential parameter
• ~5× variation across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Inter"/>
              </a:rPr>
              <a:t>Height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Fixed: tilt=20°, albedo=0.18
• Gain increases with height
• 6.61% at h=100cm
• Logarithmic dependence
• 200-300cm sweet spot
• Diminishing returns above
• Consistent with 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Inter"/>
              </a:rPr>
              <a:t>Tilt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Fixed: h=100cm, albedo=0.18
• Max rear gain 7.24% at 10°
• Decreases with higher tilt
• Front vs rear trade-off
• Combined optimization
  needed for best results
• Consistent with [3]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"/>
              </a:rPr>
              <a:t>Validation: Comparison with Literature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Inter"/>
                        </a:rPr>
                        <a:t>This Study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Dincer &amp; Ozer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Aluminum, tilt 20°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24.72%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Dincer &amp; Ozer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Height 40-100cm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4.1-4.5%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5.2-6.6%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Yusufoglu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Albedo=0.2, 2m, Cairo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~13.8%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16.55%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Ganesan et al.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Aluminum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24.72%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Pelaez et al.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High albedo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~20%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Inter"/>
                        </a:rPr>
                        <a:t>17.9-24.7%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Inter"/>
              </a:rPr>
              <a:t>✔ Consistent trends and magnitudes validate the proposed framework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Inter"/>
              </a:rPr>
              <a:t>✔ Slight differences due to geographic location, irradiance conditions, modeling specifics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Inter"/>
              </a:rPr>
              <a:t>✔ Albedo sensitivity, height dependency, and tilt optimization all show good agreement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Conclusion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Comprehensive bifacial PV optimization framework developed with validated math model (Eqs. 1–11)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Optimal for Greater Noida: 30° tilt, 450cm height → 16.55% rear gain, 3.168 kWh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Albedo is dominant parameter: ~5× variation in rear gain across surface types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Height shows logarithmic benefit; 200–300cm is the practical sweet spot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Dual optimization reveals quantifiable trade-off: max energy vs max rear gain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Web platform makes bifacial optimization accessible without commercial software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Inter"/>
              </a:rPr>
              <a:t>✔ Results validated against Dincer &amp; Ozer, Yusufoglu et al., Ganesan et al., Pelaez et 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1.  Annual energy yield simulation (365-day aggregated analysis)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2.  Multi-row array modeling with inter-row shading effects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3.  Machine learning-based rapid optimization (surrogate models)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4.  Techno-economic analysis with LCOE integration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5.  Real-time IoT monitoring &amp; adaptive optimization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6.  GIS integration for regional deployment planning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7.  Single/dual-axis tracking system comparison</a:t>
            </a:r>
          </a:p>
          <a:p>
            <a:pPr>
              <a:spcAft>
                <a:spcPts val="900"/>
              </a:spcAft>
            </a:pPr>
            <a:r>
              <a:rPr sz="2100" b="1">
                <a:solidFill>
                  <a:srgbClr val="FFFFFF"/>
                </a:solidFill>
                <a:latin typeface="Inter"/>
              </a:rPr>
              <a:t>  8.  Anisotropic sky models (Perez / Hay-Davies)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[1] B.Y.H. Liu, R.C. Jordan, Solar Energy, vol. 4, 1960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[2] U.A. Yusufoglu et al., IEEE J. Photovolt., vol. 5, 2015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[3] F. Dincer, E. Ozer, Energies, vol. 18, 2025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[4] K. Ganesan et al., Solar Energy, vol. 252,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[5] S.A. Pelaez et al., IEEE J. Photovolt., vol. 9, 2019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[6] N. Riedel-Lyngskjaer et al., Solar Energy, vol. 231, 2022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[7] R. Guerrero-Lemus et al., RSER, vol. 60, 2016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[8] M. Alam et al., SETA, vol. 57,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[9] C. Deline et al., NREL Tech. Rep., 2019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[10] X. Sun et al., Appl. Energy, vol. 212, 2018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[11] A. Basak et al., Appl. Energy, vol. 345,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[12] U. Peter, M. Novak, J. Sustain. Energy Syst., 2025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[13] M.H. Aksoy, H.A. Ceylan, RERJ, vol. 13,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[14] N. Baghel et al., Solar Energy, vol. 250,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[15] I.N. Atalay et al., Solar Energy, vol. 246,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[16] D.S. Braga et al., REES, vol. 8,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[17] A.F. Almarshoud et al., Energies, vol. 17, 2024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[18] M.T. Patel et al., IEEE J. Photovolt., vol. 11, 2021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[19] J.A. Duffie, W.A. Beckman, Wiley, 2013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[20] B. Marion et al., IEEE PVSC, 2017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[21] P.K. Sahu et al., Solar Energy, vol. 262, 2023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[22] C. Ghenai et al., Solar Energy, vol. 223, 2021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Inter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9A2A"/>
                </a:solidFill>
                <a:latin typeface="Inter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Inter"/>
              </a:rPr>
              <a:t>Publication:  "Performance Analysis of Bifacial PV System Based on Different Albedos"
Accepted at IC2PCT 2026 (International Conference on Clean and Prospective Computing Technologies)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BBBB"/>
                </a:solidFill>
                <a:latin typeface="Inter"/>
              </a:rPr>
              <a:t>Supervisor: Dr. Astitva Kumar  |  Dept. of Electrical Engineering, NSUT, New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