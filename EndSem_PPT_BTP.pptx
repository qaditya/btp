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371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imes New Roman"/>
              </a:rPr>
              <a:t>OPTIMAL CONFIGURATION OF BIFACIAL
PHOTOVOLTAIC MODULES USING
PARAMETRIC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9A2A"/>
                </a:solidFill>
                <a:latin typeface="Times New Roman"/>
              </a:rPr>
              <a:t>End-Semester Presentation | B.Tech.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Times New Roman"/>
              </a:rPr>
              <a:t>Ashish Upadhyay (2022UEE4521)  |  Pratyai Chakrabarty (2022UEE4586)
Aman (2022UEE4532)  |  Aditya Garg (2022UEE4503)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Under the supervision of Dr. Astitva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760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Times New Roman"/>
              </a:rPr>
              <a:t>Department of Electrical Engineering
Netaji Subhas University of Technology,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</a:rPr>
              <a:t>Presentation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1. Introduction &amp; Motivation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2. Literature Survey &amp; Gaps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3. Problem Statement &amp; Objectives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4. Mathematical Formulation (Equations 1-11)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5. Simulink Model &amp; Frontend Platform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6. Case Study: Greater Noida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7. Results &amp; Analysis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8. Comparison with Literature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9. Conclusion &amp; Key Findings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10. Future Scope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11. Publication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</a:rPr>
              <a:t>Introduction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Solar PV is the fastest-growing electricity source — global capacity exceeded 1,500 GW by end of 2024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India targets 500 GW non-fossil fuel capacity by 2030 under the National Solar Mission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Bifacial PV modules capture irradiance from both front and rear surfaces, achieving 5–30% higher energy yield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However, rear-side contribution is highly sensitive to tilt angle, ground albedo, and mounting height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Need for systematic, location-specific optimization tools to realize the full potential of bifacial technology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First industrial bifacial panels: 1984 — predicted to capture ~35% of global PV market by 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Guerrero-Lemus et al. [7]: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Comprehensive bifacial PV technology review; need for standardized testing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Yusufoglu et al. [2]: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Annual performance analysis; up to 30% gain at 2m height; log-height dependence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Dincer &amp; Ozer [3]: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Parametric analysis — albedo, tilt, height, mounting; 21.2% rear gain for aluminum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Sun et al. [10]: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Global optimization perspective; location-specific analysis essential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Ganesan et al. [4]: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n-type PERT bifacial under diverse albedo; 21.4% avg gain with aluminum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Pelaez et al. [5]: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Comparison of 5 bifacial irradiance models; ~20% bifacial gain validated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</a:rPr>
              <a:t>Gaps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Limited Combined Analysis:</a:t>
            </a:r>
            <a:r>
              <a:rPr sz="2000">
                <a:solidFill>
                  <a:srgbClr val="FFFFFF"/>
                </a:solidFill>
                <a:latin typeface="Times New Roman"/>
              </a:rPr>
              <a:t> Most studies evaluate tilt, albedo, height independently — not their combined interaction effect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Location-Specific Gap:</a:t>
            </a:r>
            <a:r>
              <a:rPr sz="2000">
                <a:solidFill>
                  <a:srgbClr val="FFFFFF"/>
                </a:solidFill>
                <a:latin typeface="Times New Roman"/>
              </a:rPr>
              <a:t> Many studies limited to European/American climates; India-specific validation lacking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Accessibility Barrier:</a:t>
            </a:r>
            <a:r>
              <a:rPr sz="2000">
                <a:solidFill>
                  <a:srgbClr val="FFFFFF"/>
                </a:solidFill>
                <a:latin typeface="Times New Roman"/>
              </a:rPr>
              <a:t> Current tools require specialized software (PVsyst, SAM) or commercial licenses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Single Optimization Objective:</a:t>
            </a:r>
            <a:r>
              <a:rPr sz="2000">
                <a:solidFill>
                  <a:srgbClr val="FFFFFF"/>
                </a:solidFill>
                <a:latin typeface="Times New Roman"/>
              </a:rPr>
              <a:t> Few studies consider dual objectives: max energy vs. max rear gain trade-off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No User-Friendly Platform:</a:t>
            </a:r>
            <a:r>
              <a:rPr sz="2000">
                <a:solidFill>
                  <a:srgbClr val="FFFFFF"/>
                </a:solidFill>
                <a:latin typeface="Times New Roman"/>
              </a:rPr>
              <a:t> No web-based tool exists for real-time location-specific bifacial PV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  <a:latin typeface="Times New Roman"/>
              </a:rPr>
              <a:t>"How can the rear-side energy contribution and overall performance of bifacial PV systems be maximized by optimally selecting tilt angle, ground albedo, and mounting height for a given geographical location?"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9A2A"/>
                </a:solidFill>
                <a:latin typeface="Times New Roman"/>
              </a:rPr>
              <a:t>Research Objectives: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Times New Roman"/>
              </a:rPr>
              <a:t>1. Develop comprehensive mathematical model for bifacial PV (front + rear irradiance)</a:t>
            </a:r>
          </a:p>
          <a:p>
            <a:r>
              <a:rPr sz="1700">
                <a:solidFill>
                  <a:srgbClr val="FFFFFF"/>
                </a:solidFill>
                <a:latin typeface="Times New Roman"/>
              </a:rPr>
              <a:t>2. Implement in MATLAB/Simulink for I-V / P-V characteristic simulation</a:t>
            </a:r>
          </a:p>
          <a:p>
            <a:r>
              <a:rPr sz="1700">
                <a:solidFill>
                  <a:srgbClr val="FFFFFF"/>
                </a:solidFill>
                <a:latin typeface="Times New Roman"/>
              </a:rPr>
              <a:t>3. Build user-oriented frontend platform with NASA POWER API integration</a:t>
            </a:r>
          </a:p>
          <a:p>
            <a:r>
              <a:rPr sz="1700">
                <a:solidFill>
                  <a:srgbClr val="FFFFFF"/>
                </a:solidFill>
                <a:latin typeface="Times New Roman"/>
              </a:rPr>
              <a:t>4. Perform parametric sweep for optimal configuration identification</a:t>
            </a:r>
          </a:p>
          <a:p>
            <a:r>
              <a:rPr sz="1700">
                <a:solidFill>
                  <a:srgbClr val="FFFFFF"/>
                </a:solidFill>
                <a:latin typeface="Times New Roman"/>
              </a:rPr>
              <a:t>5. Validate through case study and literature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Times New Roman"/>
              </a:rPr>
              <a:t>Mathematical Formulation — Front Irradiance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1: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G_tot = G_front + G_rear</a:t>
            </a:r>
            <a:r>
              <a:rPr sz="1500">
                <a:solidFill>
                  <a:srgbClr val="BBBBBB"/>
                </a:solidFill>
                <a:latin typeface="Times New Roman"/>
              </a:rPr>
              <a:t>
       → Total effective irradiance on bifacial module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2: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beam_tilted = DNI × max(0, cos θᵢ)</a:t>
            </a:r>
            <a:r>
              <a:rPr sz="1500">
                <a:solidFill>
                  <a:srgbClr val="BBBBBB"/>
                </a:solidFill>
                <a:latin typeface="Times New Roman"/>
              </a:rPr>
              <a:t>
       → Direct beam on tilted surface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3: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sky_vf = (1 + cos β) / 2</a:t>
            </a:r>
            <a:r>
              <a:rPr sz="1500">
                <a:solidFill>
                  <a:srgbClr val="BBBBBB"/>
                </a:solidFill>
                <a:latin typeface="Times New Roman"/>
              </a:rPr>
              <a:t>
       → Sky view factor for tilted plane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4: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gnd_vf = (1 − cos β) / 2</a:t>
            </a:r>
            <a:r>
              <a:rPr sz="1500">
                <a:solidFill>
                  <a:srgbClr val="BBBBBB"/>
                </a:solidFill>
                <a:latin typeface="Times New Roman"/>
              </a:rPr>
              <a:t>
       → Ground view factor for tilted plane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5: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G_front = beam + DHI·sky_vf + GHI·ρ·gnd_vf</a:t>
            </a:r>
            <a:r>
              <a:rPr sz="1500">
                <a:solidFill>
                  <a:srgbClr val="BBBBBB"/>
                </a:solidFill>
                <a:latin typeface="Times New Roman"/>
              </a:rPr>
              <a:t>
       → Liu-Jordan isotropic model [1]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Mathematical Formulation — Rear Irradiance &amp; 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6: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γ_profile = arctan(tan α_sun / cos(γ_sun − γ_panel))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Solar profile angle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7: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shadow_lower = h / tan(γ_profile)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Lower shadow edge on ground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8: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shadow_upper = (h + W·sinβ) / tan(γ_profile)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Upper shadow edge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9: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F_V = ∫ cosθ₁·cosθ₂ / (2r) dx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Shadow view factor [2]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10: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G_r0 = ρ·DHI·rear_vf + ρ·(GHI−DHI)·(rear_vf−F_V)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Rear irradiance with shadow correction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11: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G_rear = G_r0 × φ_bifaciality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Scaled by bifaciality factor (0.7)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/>
              </a:rPr>
              <a:t>Simulink Model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Times New Roman"/>
              </a:rPr>
              <a:t>[Insert Simulink Model Screenshot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• calculate_irradiance MATLAB function block
implements Eqs. 1–11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• PV Array block: single-diode model
550 Wp bifacial module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• V_ramp sweep: 0V to Voc for
complete I-V / P-V curves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• NOCT thermal model:
cell temp derating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• Simpson's rule numerical integration
for shadow view factor F_V (200 pts)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/>
              </a:rPr>
              <a:t>Frontend 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C49A2A"/>
                </a:solidFill>
                <a:latin typeface="Times New Roman"/>
              </a:rPr>
              <a:t>▶ User Interface: </a:t>
            </a:r>
            <a:r>
              <a:rPr sz="1800">
                <a:solidFill>
                  <a:srgbClr val="FFFFFF"/>
                </a:solidFill>
                <a:latin typeface="Times New Roman"/>
              </a:rPr>
              <a:t>City selection, date range, sweep parameters, albedo surface type, optimization objective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C49A2A"/>
                </a:solidFill>
                <a:latin typeface="Times New Roman"/>
              </a:rPr>
              <a:t>▶ Backend (Node.js/Express): </a:t>
            </a:r>
            <a:r>
              <a:rPr sz="1800">
                <a:solidFill>
                  <a:srgbClr val="FFFFFF"/>
                </a:solidFill>
                <a:latin typeface="Times New Roman"/>
              </a:rPr>
              <a:t>API routing, input validation, NASA POWER data retrieval, parametric sweep coordination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C49A2A"/>
                </a:solidFill>
                <a:latin typeface="Times New Roman"/>
              </a:rPr>
              <a:t>▶ NASA POWER API: </a:t>
            </a:r>
            <a:r>
              <a:rPr sz="1800">
                <a:solidFill>
                  <a:srgbClr val="FFFFFF"/>
                </a:solidFill>
                <a:latin typeface="Times New Roman"/>
              </a:rPr>
              <a:t>Hourly GHI, DHI, DNI, temperature data for any global location (0.5° resolution)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C49A2A"/>
                </a:solidFill>
                <a:latin typeface="Times New Roman"/>
              </a:rPr>
              <a:t>▶ Analysis Engine: </a:t>
            </a:r>
            <a:r>
              <a:rPr sz="1800">
                <a:solidFill>
                  <a:srgbClr val="FFFFFF"/>
                </a:solidFill>
                <a:latin typeface="Times New Roman"/>
              </a:rPr>
              <a:t>Erbs decomposition, Liu-Jordan transposition, view factor computation, I-V/P-V generation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C49A2A"/>
                </a:solidFill>
                <a:latin typeface="Times New Roman"/>
              </a:rPr>
              <a:t>▶ Results Dashboard: </a:t>
            </a:r>
            <a:r>
              <a:rPr sz="1800">
                <a:solidFill>
                  <a:srgbClr val="FFFFFF"/>
                </a:solidFill>
                <a:latin typeface="Times New Roman"/>
              </a:rPr>
              <a:t>Optimal config tables, I-V/P-V charts, individual parameter variation graphs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Times New Roman"/>
              </a:rPr>
              <a:t>Case Study: Greater Noida,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Times New Roman"/>
              </a:rPr>
              <a:t>• Location: 28.47°N, 77.50°E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Times New Roman"/>
              </a:rPr>
              <a:t>• Date: 13 March 2026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Times New Roman"/>
              </a:rPr>
              <a:t>• Height sweep: 50–450 cm (step 50)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Times New Roman"/>
              </a:rPr>
              <a:t>• Tilt sweep: 10°–50° (step 10°)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Times New Roman"/>
              </a:rPr>
              <a:t>• Albedo: 0.3 (Concrete)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Times New Roman"/>
              </a:rPr>
              <a:t>• Azimuth: 180° (South-facing)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Times New Roman"/>
              </a:rPr>
              <a:t>• Bifaciality: 0.7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Times New Roman"/>
              </a:rPr>
              <a:t>• Total GHI: 6.08 kWh/m²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Times New Roman"/>
              </a:rPr>
              <a:t>• Peak GHI: 866.53 W/m²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FFFFF"/>
                </a:solidFill>
                <a:latin typeface="Times New Roman"/>
              </a:rPr>
              <a:t>• 45 evaluation points (9×5)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BBBB"/>
                </a:solidFill>
                <a:latin typeface="Times New Roman"/>
              </a:rPr>
              <a:t>[Insert Frontend Screenshot]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Times New Roman"/>
              </a:rPr>
              <a:t>Results: Maximum Energy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9A2A"/>
                </a:solidFill>
                <a:latin typeface="Times New Roman"/>
              </a:rPr>
              <a:t>Optimization Objective: Maximize Total Energy Output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Height (cm)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Tilt 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Energy (kWh)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Rear Gain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3.16843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16.55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3.16570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15.61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3.16521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16.39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3.16258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15.45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3.16113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16.19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✓ Optimal: 30° tilt, 450cm height → matches latitude (28.47°N)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✓ Top 5 configs differ by &lt; 0.25% in energy → robust near optimum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✓ Rear gain of 16.55% demonstrates significant bifacial advantage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Times New Roman"/>
              </a:rPr>
              <a:t>Results: Maximum Rear Gain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9A2A"/>
                </a:solidFill>
                <a:latin typeface="Times New Roman"/>
              </a:rPr>
              <a:t>Optimization Objective: Maximize Rear-Side Contribution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Height (cm)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Tilt 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Energy (kWh)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Rear Gain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2.99422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17.90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2.99130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17.76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2.98755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17.57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2.98258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17.33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3.11109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17.33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✓ Max rear gain (17.90%) at 10° tilt — low tilt → larger ground view factor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✓ Energy trade-off: 5.5% lower total energy vs max-energy config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✓ Dual optimization enables informed design decisions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Times New Roman"/>
              </a:rPr>
              <a:t>I-V and P-V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BBBB"/>
                </a:solidFill>
                <a:latin typeface="Times New Roman"/>
              </a:rPr>
              <a:t>[Insert I-V Curve Plot]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BBBB"/>
                </a:solidFill>
                <a:latin typeface="Times New Roman"/>
              </a:rPr>
              <a:t>[Insert P-V Curve Plot]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imes New Roman"/>
              </a:rPr>
              <a:t>• Higher effective irradiance → higher Isc and peak power
• MPP shifts with installation configuration
• Voc relatively stable across configs (logarithmic irradiance dependence)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Individual Parameter Variation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9A2A"/>
                </a:solidFill>
                <a:latin typeface="Times New Roman"/>
              </a:rPr>
              <a:t>Albedo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imes New Roman"/>
              </a:rPr>
              <a:t>Fixed: tilt=20°, h=100cm
• Aluminum (0.85): 24.72% rear gain
• Concrete (0.30): ~12%
• Asphalt (0.12): &lt; 5%
• Near-linear relationship
• Most influential parameter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9A2A"/>
                </a:solidFill>
                <a:latin typeface="Times New Roman"/>
              </a:rPr>
              <a:t>Height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3736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imes New Roman"/>
              </a:rPr>
              <a:t>Fixed: tilt=20°, albedo=0.18
• Rear gain increases with height
• 6.61% at h=100cm
• Diminishing returns (log)
• 200-300cm practical sweet 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9A2A"/>
                </a:solidFill>
                <a:latin typeface="Times New Roman"/>
              </a:rPr>
              <a:t>Tilt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73736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imes New Roman"/>
              </a:rPr>
              <a:t>Fixed: h=100cm, albedo=0.18
• Max rear gain 7.24% at 10°
• Decreases with higher tilt
• Trade-off: front vs rear
• Combined optimization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Times New Roman"/>
              </a:rPr>
              <a:t>Comparison with Published Literature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This Study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Dincer &amp; Ozer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Aluminum, tilt 20°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24.72%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Dincer &amp; Ozer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Height 40-100cm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4.1-4.5%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5.2-6.6%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Yusufoglu et al.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Albedo=0.2, 2m, Cairo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~13.8%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16.55%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Ganesan et al. 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Aluminum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24.72%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Pelaez et al. 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High albedo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~20%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Times New Roman"/>
                        </a:rPr>
                        <a:t>17.9-24.7%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Times New Roman"/>
              </a:rPr>
              <a:t>✓ Consistent trends and magnitudes validate the proposed framework
✓ Slight differences due to geographic location, irradiance conditions, and modeling methodology
✓ Albedo sensitivity, height dependency, and tilt optimization all show good agreement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Times New Roman"/>
              </a:rPr>
              <a:t>Conclusion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Times New Roman"/>
              </a:rPr>
              <a:t>✓ Developed comprehensive bifacial PV optimization framework with validated math model (Eqs. 1-11)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Times New Roman"/>
              </a:rPr>
              <a:t>✓ Optimal config for Greater Noida: 30° tilt, 450cm height → 16.55% rear gain, 3.168 kWh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Times New Roman"/>
              </a:rPr>
              <a:t>✓ Albedo is the dominant parameter: 5× variation in rear gain across surface types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Times New Roman"/>
              </a:rPr>
              <a:t>✓ Height shows logarithmic benefit; 200-300cm is the practical sweet spot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Times New Roman"/>
              </a:rPr>
              <a:t>✓ Dual optimization (max energy vs max rear gain) reveals clear, quantifiable trade-offs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Times New Roman"/>
              </a:rPr>
              <a:t>✓ Web-based platform makes bifacial optimization accessible without specialized software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Times New Roman"/>
              </a:rPr>
              <a:t>✓ Results validated against Dincer &amp; Ozer, Yusufoglu et al., Ganesan et al., Pelaez et 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_img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Times New Roman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1. Annual energy yield simulation (365-day analysis)</a:t>
            </a:r>
          </a:p>
          <a:p>
            <a:pPr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2. Multi-row array modeling with inter-row shading</a:t>
            </a:r>
          </a:p>
          <a:p>
            <a:pPr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3. Machine learning-based rapid optimization</a:t>
            </a:r>
          </a:p>
          <a:p>
            <a:pPr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4. Techno-economic analysis (LCOE integration)</a:t>
            </a:r>
          </a:p>
          <a:p>
            <a:pPr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5. Real-time IoT monitoring &amp; adaptive optimization</a:t>
            </a:r>
          </a:p>
          <a:p>
            <a:pPr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6. GIS integration for regional deployment planning</a:t>
            </a:r>
          </a:p>
          <a:p>
            <a:pPr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7. Single/dual-axis tracking system comparison</a:t>
            </a:r>
          </a:p>
          <a:p>
            <a:pPr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8. Anisotropic sky models (Perez/Hay-Davies)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Times New Roman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[1] B.Y.H. Liu, R.C. Jordan, Solar Energy, vol. 4, 1960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[2] U.A. Yusufoglu et al., IEEE J. Photovolt., vol. 5, 2015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[3] F. Dincer, E. Ozer, Energies, vol. 18, 2025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[4] K. Ganesan et al., Solar Energy, vol. 252, 2023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[5] S.A. Pelaez et al., IEEE J. Photovolt., vol. 9, 2019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[6] N. Riedel-Lyngskjaer et al., Solar Energy, vol. 231, 2022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[7] R. Guerrero-Lemus et al., RSER, vol. 60, 2016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[8] M. Alam et al., SETA, vol. 57, 2023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[9] C. Deline et al., NREL Tech. Rep., 2019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[10] X. Sun et al., Appl. Energy, vol. 212, 2018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[11] A. Basak et al., Appl. Energy, vol. 345,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[12] U. Peter, M. Novak, J. Sustain. Energy Syst., 2025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[13] M.H. Aksoy, H.A. Ceylan, RERJ, vol. 13, 2023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[14] N. Baghel et al., Solar Energy, vol. 250, 2023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[15] I.N. Atalay et al., Solar Energy, vol. 246, 2023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[16] D.S. Braga et al., REES, vol. 8, 2023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[17] A.F. Almarshoud et al., Energies, vol. 17, 2024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[18] M.T. Patel et al., IEEE J. Photovolt., vol. 11, 2021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[19] J.A. Duffie, W.A. Beckman, Wiley, 2013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[20] B. Marion et al., IEEE PVSC, 2017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[21] P.K. Sahu et al., Solar Energy, vol. 262, 2023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  <a:latin typeface="Times New Roman"/>
              </a:rPr>
              <a:t>[22] C. Ghenai et al., Solar Energy, vol. 223, 2021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74320"/>
            <a:ext cx="1280160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imes New Roman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9A2A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Times New Roman"/>
              </a:rPr>
              <a:t>Publication: "Performance Analysis of Bifacial PV System Based on Different Albedos"
Accepted at IC2PCT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BB"/>
                </a:solidFill>
                <a:latin typeface="Times New Roman"/>
              </a:rPr>
              <a:t>Dr. Astitva Kumar (Supervisor) | Dept. of Electrical Engineering, NSUT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