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1371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Times New Roman"/>
              </a:rPr>
              <a:t>OPTIMAL CONFIGURATION OF BIFACIAL
PHOTOVOLTAIC MODULES USING
PARAMETRIC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49A2A"/>
                </a:solidFill>
                <a:latin typeface="Times New Roman"/>
              </a:rPr>
              <a:t>End-Semester Presentation | B.Tech.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Times New Roman"/>
              </a:rPr>
              <a:t>Ashish Upadhyay (2022UEE4521)  |  Pratyai Chakrabarty (2022UEE4586)
Aman (2022UEE4532)  |  Aditya Garg (2022UEE4503)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303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Under the supervision of Dr. Astitva Kumar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7607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Times New Roman"/>
              </a:rPr>
              <a:t>Department of Electrical Engineering
Netaji Subhas University of Technology,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im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2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Times New Roman"/>
              </a:rPr>
              <a:t>Presentation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1. Introduction &amp; Motivation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2. Literature Survey &amp; Gaps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3. Problem Statement &amp; Objectives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4. Mathematical Formulation (Equations 1-11)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5. Simulink Model &amp; Frontend Platform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6. Case Study: Greater Noida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7. Results &amp; Analysis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8. Comparison with Literature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9. Conclusion &amp; Key Findings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10. Future Scope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11. Publication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im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2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Times New Roman"/>
              </a:rPr>
              <a:t>Introduction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imes New Roman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Times New Roman"/>
              </a:rPr>
              <a:t>• Solar PV is the fastest-growing electricity source — global capacity exceeded 1,500 GW by end of 2024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Times New Roman"/>
              </a:rPr>
              <a:t>• India targets 500 GW non-fossil fuel capacity by 2030 under the National Solar Mission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Times New Roman"/>
              </a:rPr>
              <a:t>• Bifacial PV modules capture irradiance from both front and rear surfaces, achieving 5–30% higher energy yield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Times New Roman"/>
              </a:rPr>
              <a:t>• However, rear-side contribution is highly sensitive to tilt angle, ground albedo, and mounting height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Times New Roman"/>
              </a:rPr>
              <a:t>• Need for systematic, location-specific optimization tools to realize the full potential of bifacial technology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Times New Roman"/>
              </a:rPr>
              <a:t>• First industrial bifacial panels: 1984 — predicted to capture ~35% of global PV market by 2027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im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2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Times New Roman"/>
              </a:rPr>
              <a:t>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imes New Roman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Guerrero-Lemus et al. [7]:</a:t>
            </a:r>
            <a:r>
              <a:rPr sz="2000">
                <a:solidFill>
                  <a:srgbClr val="FFFFFF"/>
                </a:solidFill>
                <a:latin typeface="Times New Roman"/>
              </a:rPr>
              <a:t> Comprehensive bifacial PV technology review; need for standardized testing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Yusufoglu et al. [2]:</a:t>
            </a:r>
            <a:r>
              <a:rPr sz="2000">
                <a:solidFill>
                  <a:srgbClr val="FFFFFF"/>
                </a:solidFill>
                <a:latin typeface="Times New Roman"/>
              </a:rPr>
              <a:t> Annual performance analysis; up to 30% gain at 2m height; log-height dependence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Dincer &amp; Ozer [3]:</a:t>
            </a:r>
            <a:r>
              <a:rPr sz="2000">
                <a:solidFill>
                  <a:srgbClr val="FFFFFF"/>
                </a:solidFill>
                <a:latin typeface="Times New Roman"/>
              </a:rPr>
              <a:t> Parametric analysis — albedo, tilt, height, mounting; 21.2% rear gain for aluminum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Sun et al. [10]:</a:t>
            </a:r>
            <a:r>
              <a:rPr sz="2000">
                <a:solidFill>
                  <a:srgbClr val="FFFFFF"/>
                </a:solidFill>
                <a:latin typeface="Times New Roman"/>
              </a:rPr>
              <a:t> Global optimization perspective; location-specific analysis essential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Ganesan et al. [4]:</a:t>
            </a:r>
            <a:r>
              <a:rPr sz="2000">
                <a:solidFill>
                  <a:srgbClr val="FFFFFF"/>
                </a:solidFill>
                <a:latin typeface="Times New Roman"/>
              </a:rPr>
              <a:t> n-type PERT bifacial under diverse albedo; 21.4% avg gain with aluminum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Pelaez et al. [5]:</a:t>
            </a:r>
            <a:r>
              <a:rPr sz="2000">
                <a:solidFill>
                  <a:srgbClr val="FFFFFF"/>
                </a:solidFill>
                <a:latin typeface="Times New Roman"/>
              </a:rPr>
              <a:t> Comparison of 5 bifacial irradiance models; ~20% bifacial gain validated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im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2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Times New Roman"/>
              </a:rPr>
              <a:t>Gaps Identified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imes New Roman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Limited Combined Analysis:</a:t>
            </a:r>
            <a:r>
              <a:rPr sz="2000">
                <a:solidFill>
                  <a:srgbClr val="FFFFFF"/>
                </a:solidFill>
                <a:latin typeface="Times New Roman"/>
              </a:rPr>
              <a:t> Most studies evaluate tilt, albedo, height independently — not their combined interaction effect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Location-Specific Gap:</a:t>
            </a:r>
            <a:r>
              <a:rPr sz="2000">
                <a:solidFill>
                  <a:srgbClr val="FFFFFF"/>
                </a:solidFill>
                <a:latin typeface="Times New Roman"/>
              </a:rPr>
              <a:t> Many studies limited to European/American climates; India-specific validation lacking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Accessibility Barrier:</a:t>
            </a:r>
            <a:r>
              <a:rPr sz="2000">
                <a:solidFill>
                  <a:srgbClr val="FFFFFF"/>
                </a:solidFill>
                <a:latin typeface="Times New Roman"/>
              </a:rPr>
              <a:t> Current tools require specialized software (PVsyst, SAM) or commercial licenses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Single Optimization Objective:</a:t>
            </a:r>
            <a:r>
              <a:rPr sz="2000">
                <a:solidFill>
                  <a:srgbClr val="FFFFFF"/>
                </a:solidFill>
                <a:latin typeface="Times New Roman"/>
              </a:rPr>
              <a:t> Few studies consider dual objectives: max energy vs. max rear gain trade-off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No User-Friendly Platform:</a:t>
            </a:r>
            <a:r>
              <a:rPr sz="2000">
                <a:solidFill>
                  <a:srgbClr val="FFFFFF"/>
                </a:solidFill>
                <a:latin typeface="Times New Roman"/>
              </a:rPr>
              <a:t> No web-based tool exists for real-time location-specific bifacial PV optimization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im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2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1">
                <a:solidFill>
                  <a:srgbClr val="FFFFFF"/>
                </a:solidFill>
                <a:latin typeface="Times New Roman"/>
              </a:rPr>
              <a:t>"How can the rear-side energy contribution and overall performance of bifacial PV systems be maximized by optimally selecting tilt angle, ground albedo, and mounting height for a given geographical location?"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49A2A"/>
                </a:solidFill>
                <a:latin typeface="Times New Roman"/>
              </a:rPr>
              <a:t>Research Objectives: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  <a:latin typeface="Times New Roman"/>
              </a:rPr>
              <a:t>1. Develop comprehensive mathematical model for bifacial PV (front + rear irradiance)</a:t>
            </a:r>
          </a:p>
          <a:p>
            <a:r>
              <a:rPr sz="1700">
                <a:solidFill>
                  <a:srgbClr val="FFFFFF"/>
                </a:solidFill>
                <a:latin typeface="Times New Roman"/>
              </a:rPr>
              <a:t>2. Implement in MATLAB/Simulink for I-V / P-V characteristic simulation</a:t>
            </a:r>
          </a:p>
          <a:p>
            <a:r>
              <a:rPr sz="1700">
                <a:solidFill>
                  <a:srgbClr val="FFFFFF"/>
                </a:solidFill>
                <a:latin typeface="Times New Roman"/>
              </a:rPr>
              <a:t>3. Build user-oriented frontend platform with NASA POWER API integration</a:t>
            </a:r>
          </a:p>
          <a:p>
            <a:r>
              <a:rPr sz="1700">
                <a:solidFill>
                  <a:srgbClr val="FFFFFF"/>
                </a:solidFill>
                <a:latin typeface="Times New Roman"/>
              </a:rPr>
              <a:t>4. Perform parametric sweep for optimal configuration identification</a:t>
            </a:r>
          </a:p>
          <a:p>
            <a:r>
              <a:rPr sz="1700">
                <a:solidFill>
                  <a:srgbClr val="FFFFFF"/>
                </a:solidFill>
                <a:latin typeface="Times New Roman"/>
              </a:rPr>
              <a:t>5. Validate through case study and literature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im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2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Times New Roman"/>
              </a:rPr>
              <a:t>Mathematical Formulation — Front Irradiance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C49A2A"/>
                </a:solidFill>
                <a:latin typeface="Times New Roman"/>
              </a:rPr>
              <a:t>Eq. 1:  </a:t>
            </a:r>
            <a:r>
              <a:rPr sz="2000" i="1">
                <a:solidFill>
                  <a:srgbClr val="FFFFFF"/>
                </a:solidFill>
                <a:latin typeface="Cambria Math"/>
              </a:rPr>
              <a:t>G_tot = G_front + G_rear</a:t>
            </a:r>
            <a:r>
              <a:rPr sz="1500">
                <a:solidFill>
                  <a:srgbClr val="BBBBBB"/>
                </a:solidFill>
                <a:latin typeface="Times New Roman"/>
              </a:rPr>
              <a:t>
       → Total effective irradiance on bifacial module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49A2A"/>
                </a:solidFill>
                <a:latin typeface="Times New Roman"/>
              </a:rPr>
              <a:t>Eq. 2:  </a:t>
            </a:r>
            <a:r>
              <a:rPr sz="2000" i="1">
                <a:solidFill>
                  <a:srgbClr val="FFFFFF"/>
                </a:solidFill>
                <a:latin typeface="Cambria Math"/>
              </a:rPr>
              <a:t>beam_tilted = DNI × max(0, cos θᵢ)</a:t>
            </a:r>
            <a:r>
              <a:rPr sz="1500">
                <a:solidFill>
                  <a:srgbClr val="BBBBBB"/>
                </a:solidFill>
                <a:latin typeface="Times New Roman"/>
              </a:rPr>
              <a:t>
       → Direct beam on tilted surface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49A2A"/>
                </a:solidFill>
                <a:latin typeface="Times New Roman"/>
              </a:rPr>
              <a:t>Eq. 3:  </a:t>
            </a:r>
            <a:r>
              <a:rPr sz="2000" i="1">
                <a:solidFill>
                  <a:srgbClr val="FFFFFF"/>
                </a:solidFill>
                <a:latin typeface="Cambria Math"/>
              </a:rPr>
              <a:t>sky_vf = (1 + cos β) / 2</a:t>
            </a:r>
            <a:r>
              <a:rPr sz="1500">
                <a:solidFill>
                  <a:srgbClr val="BBBBBB"/>
                </a:solidFill>
                <a:latin typeface="Times New Roman"/>
              </a:rPr>
              <a:t>
       → Sky view factor for tilted plane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49A2A"/>
                </a:solidFill>
                <a:latin typeface="Times New Roman"/>
              </a:rPr>
              <a:t>Eq. 4:  </a:t>
            </a:r>
            <a:r>
              <a:rPr sz="2000" i="1">
                <a:solidFill>
                  <a:srgbClr val="FFFFFF"/>
                </a:solidFill>
                <a:latin typeface="Cambria Math"/>
              </a:rPr>
              <a:t>gnd_vf = (1 − cos β) / 2</a:t>
            </a:r>
            <a:r>
              <a:rPr sz="1500">
                <a:solidFill>
                  <a:srgbClr val="BBBBBB"/>
                </a:solidFill>
                <a:latin typeface="Times New Roman"/>
              </a:rPr>
              <a:t>
       → Ground view factor for tilted plane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49A2A"/>
                </a:solidFill>
                <a:latin typeface="Times New Roman"/>
              </a:rPr>
              <a:t>Eq. 5:  </a:t>
            </a:r>
            <a:r>
              <a:rPr sz="2000" i="1">
                <a:solidFill>
                  <a:srgbClr val="FFFFFF"/>
                </a:solidFill>
                <a:latin typeface="Cambria Math"/>
              </a:rPr>
              <a:t>G_front = beam + DHI·sky_vf + GHI·ρ·gnd_vf</a:t>
            </a:r>
            <a:r>
              <a:rPr sz="1500">
                <a:solidFill>
                  <a:srgbClr val="BBBBBB"/>
                </a:solidFill>
                <a:latin typeface="Times New Roman"/>
              </a:rPr>
              <a:t>
       → Liu-Jordan isotropic model [1]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im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2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Mathematical Formulation — Rear Irradiance &amp; Shadow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C49A2A"/>
                </a:solidFill>
                <a:latin typeface="Times New Roman"/>
              </a:rPr>
              <a:t>Eq. 6:  </a:t>
            </a:r>
            <a:r>
              <a:rPr sz="1900" i="1">
                <a:solidFill>
                  <a:srgbClr val="FFFFFF"/>
                </a:solidFill>
                <a:latin typeface="Cambria Math"/>
              </a:rPr>
              <a:t>γ_profile = arctan(tan α_sun / cos(γ_sun − γ_panel))</a:t>
            </a:r>
            <a:r>
              <a:rPr sz="1400">
                <a:solidFill>
                  <a:srgbClr val="BBBBBB"/>
                </a:solidFill>
                <a:latin typeface="Times New Roman"/>
              </a:rPr>
              <a:t>
       → Solar profile angle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C49A2A"/>
                </a:solidFill>
                <a:latin typeface="Times New Roman"/>
              </a:rPr>
              <a:t>Eq. 7:  </a:t>
            </a:r>
            <a:r>
              <a:rPr sz="1900" i="1">
                <a:solidFill>
                  <a:srgbClr val="FFFFFF"/>
                </a:solidFill>
                <a:latin typeface="Cambria Math"/>
              </a:rPr>
              <a:t>shadow_lower = h / tan(γ_profile)</a:t>
            </a:r>
            <a:r>
              <a:rPr sz="1400">
                <a:solidFill>
                  <a:srgbClr val="BBBBBB"/>
                </a:solidFill>
                <a:latin typeface="Times New Roman"/>
              </a:rPr>
              <a:t>
       → Lower shadow edge on ground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C49A2A"/>
                </a:solidFill>
                <a:latin typeface="Times New Roman"/>
              </a:rPr>
              <a:t>Eq. 8:  </a:t>
            </a:r>
            <a:r>
              <a:rPr sz="1900" i="1">
                <a:solidFill>
                  <a:srgbClr val="FFFFFF"/>
                </a:solidFill>
                <a:latin typeface="Cambria Math"/>
              </a:rPr>
              <a:t>shadow_upper = (h + W·sinβ) / tan(γ_profile)</a:t>
            </a:r>
            <a:r>
              <a:rPr sz="1400">
                <a:solidFill>
                  <a:srgbClr val="BBBBBB"/>
                </a:solidFill>
                <a:latin typeface="Times New Roman"/>
              </a:rPr>
              <a:t>
       → Upper shadow edge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C49A2A"/>
                </a:solidFill>
                <a:latin typeface="Times New Roman"/>
              </a:rPr>
              <a:t>Eq. 9:  </a:t>
            </a:r>
            <a:r>
              <a:rPr sz="1900" i="1">
                <a:solidFill>
                  <a:srgbClr val="FFFFFF"/>
                </a:solidFill>
                <a:latin typeface="Cambria Math"/>
              </a:rPr>
              <a:t>F_V = ∫ cosθ₁·cosθ₂ / (2r) dx</a:t>
            </a:r>
            <a:r>
              <a:rPr sz="1400">
                <a:solidFill>
                  <a:srgbClr val="BBBBBB"/>
                </a:solidFill>
                <a:latin typeface="Times New Roman"/>
              </a:rPr>
              <a:t>
       → Shadow view factor [2]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C49A2A"/>
                </a:solidFill>
                <a:latin typeface="Times New Roman"/>
              </a:rPr>
              <a:t>Eq. 10:  </a:t>
            </a:r>
            <a:r>
              <a:rPr sz="1900" i="1">
                <a:solidFill>
                  <a:srgbClr val="FFFFFF"/>
                </a:solidFill>
                <a:latin typeface="Cambria Math"/>
              </a:rPr>
              <a:t>G_r0 = ρ·DHI·rear_vf + ρ·(GHI−DHI)·(rear_vf−F_V)</a:t>
            </a:r>
            <a:r>
              <a:rPr sz="1400">
                <a:solidFill>
                  <a:srgbClr val="BBBBBB"/>
                </a:solidFill>
                <a:latin typeface="Times New Roman"/>
              </a:rPr>
              <a:t>
       → Rear irradiance with shadow correction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C49A2A"/>
                </a:solidFill>
                <a:latin typeface="Times New Roman"/>
              </a:rPr>
              <a:t>Eq. 11:  </a:t>
            </a:r>
            <a:r>
              <a:rPr sz="1900" i="1">
                <a:solidFill>
                  <a:srgbClr val="FFFFFF"/>
                </a:solidFill>
                <a:latin typeface="Cambria Math"/>
              </a:rPr>
              <a:t>G_rear = G_r0 × φ_bifaciality</a:t>
            </a:r>
            <a:r>
              <a:rPr sz="1400">
                <a:solidFill>
                  <a:srgbClr val="BBBBBB"/>
                </a:solidFill>
                <a:latin typeface="Times New Roman"/>
              </a:rPr>
              <a:t>
       → Scaled by bifaciality factor (0.7)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im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2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imes New Roman"/>
              </a:rPr>
              <a:t>Simulink Model &amp;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Times New Roman"/>
              </a:rPr>
              <a:t>[Insert Simulink Model Screenshot Here]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Times New Roman"/>
              </a:rPr>
              <a:t>• calculate_irradiance MATLAB function block
implements Eqs. 1–11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Times New Roman"/>
              </a:rPr>
              <a:t>• PV Array block: single-diode model
550 Wp bifacial module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Times New Roman"/>
              </a:rPr>
              <a:t>• V_ramp sweep: 0V to Voc for
complete I-V / P-V curves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Times New Roman"/>
              </a:rPr>
              <a:t>• NOCT thermal model:
cell temp derating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Times New Roman"/>
              </a:rPr>
              <a:t>• Simpson's rule numerical integration
for shadow view factor F_V (200 pts)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im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2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36576"/>
            <a:ext cx="804672" cy="804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imes New Roman"/>
              </a:rPr>
              <a:t>Frontend Platform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C49A2A"/>
                </a:solidFill>
                <a:latin typeface="Times New Roman"/>
              </a:rPr>
              <a:t>▶ User Interface: </a:t>
            </a:r>
            <a:r>
              <a:rPr sz="1800">
                <a:solidFill>
                  <a:srgbClr val="FFFFFF"/>
                </a:solidFill>
                <a:latin typeface="Times New Roman"/>
              </a:rPr>
              <a:t>City selection, date range, sweep parameters, albedo surface type, optimization objective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C49A2A"/>
                </a:solidFill>
                <a:latin typeface="Times New Roman"/>
              </a:rPr>
              <a:t>▶ Backend (Node.js/Express): </a:t>
            </a:r>
            <a:r>
              <a:rPr sz="1800">
                <a:solidFill>
                  <a:srgbClr val="FFFFFF"/>
                </a:solidFill>
                <a:latin typeface="Times New Roman"/>
              </a:rPr>
              <a:t>API routing, input validation, NASA POWER data retrieval, parametric sweep coordination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C49A2A"/>
                </a:solidFill>
                <a:latin typeface="Times New Roman"/>
              </a:rPr>
              <a:t>▶ NASA POWER API: </a:t>
            </a:r>
            <a:r>
              <a:rPr sz="1800">
                <a:solidFill>
                  <a:srgbClr val="FFFFFF"/>
                </a:solidFill>
                <a:latin typeface="Times New Roman"/>
              </a:rPr>
              <a:t>Hourly GHI, DHI, DNI, temperature data for any global location (0.5° resolution)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C49A2A"/>
                </a:solidFill>
                <a:latin typeface="Times New Roman"/>
              </a:rPr>
              <a:t>▶ Analysis Engine: </a:t>
            </a:r>
            <a:r>
              <a:rPr sz="1800">
                <a:solidFill>
                  <a:srgbClr val="FFFFFF"/>
                </a:solidFill>
                <a:latin typeface="Times New Roman"/>
              </a:rPr>
              <a:t>Erbs decomposition, Liu-Jordan transposition, view factor computation, I-V/P-V generation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C49A2A"/>
                </a:solidFill>
                <a:latin typeface="Times New Roman"/>
              </a:rPr>
              <a:t>▶ Results Dashboard: </a:t>
            </a:r>
            <a:r>
              <a:rPr sz="1800">
                <a:solidFill>
                  <a:srgbClr val="FFFFFF"/>
                </a:solidFill>
                <a:latin typeface="Times New Roman"/>
              </a:rPr>
              <a:t>Optimal config tables, I-V/P-V charts, individual parameter variation graphs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